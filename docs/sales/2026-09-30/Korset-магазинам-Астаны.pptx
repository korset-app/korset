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c964d1ed84b2a" /><Relationship Type="http://schemas.openxmlformats.org/officeDocument/2006/relationships/extended-properties" Target="/docProps/app.xml" Id="Rc798f2c488ba4602" /><Relationship Type="http://schemas.openxmlformats.org/officeDocument/2006/relationships/officeDocument" Target="/ppt/presentation.xml" Id="R93f2a6ef5b64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a36b6342a4fb7"/>
  </p:sldMasterIdLst>
  <p:notesMasterIdLst>
    <p:notesMasterId xmlns:r="http://schemas.openxmlformats.org/officeDocument/2006/relationships" r:id="R7ebc07cdccb34e56"/>
  </p:notesMasterIdLst>
  <p:sldIdLst>
    <p:sldId xmlns:r="http://schemas.openxmlformats.org/officeDocument/2006/relationships" id="256" r:id="Rcd21ea029c184182"/>
    <p:sldId xmlns:r="http://schemas.openxmlformats.org/officeDocument/2006/relationships" id="257" r:id="R2ef3c63136b74ce3"/>
    <p:sldId xmlns:r="http://schemas.openxmlformats.org/officeDocument/2006/relationships" id="258" r:id="Rb7bc2be3e9af44c7"/>
    <p:sldId xmlns:r="http://schemas.openxmlformats.org/officeDocument/2006/relationships" id="259" r:id="R909c5ca4eb28449b"/>
    <p:sldId xmlns:r="http://schemas.openxmlformats.org/officeDocument/2006/relationships" id="260" r:id="Rc71227d1ff8b47ab"/>
    <p:sldId xmlns:r="http://schemas.openxmlformats.org/officeDocument/2006/relationships" id="261" r:id="R8daadfe9750a4d14"/>
    <p:sldId xmlns:r="http://schemas.openxmlformats.org/officeDocument/2006/relationships" id="262" r:id="R623d9c7c15104d9d"/>
    <p:sldId xmlns:r="http://schemas.openxmlformats.org/officeDocument/2006/relationships" id="263" r:id="Rf9c7b3da961340b1"/>
    <p:sldId xmlns:r="http://schemas.openxmlformats.org/officeDocument/2006/relationships" id="264" r:id="Re7b8ab50e89647a1"/>
    <p:sldId xmlns:r="http://schemas.openxmlformats.org/officeDocument/2006/relationships" id="265" r:id="R040aa02f8d1d45f9"/>
    <p:sldId xmlns:r="http://schemas.openxmlformats.org/officeDocument/2006/relationships" id="266" r:id="R462c49029c634535"/>
    <p:sldId xmlns:r="http://schemas.openxmlformats.org/officeDocument/2006/relationships" id="267" r:id="R83b00946dc104f7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1afa8ea66744ce" /><Relationship Type="http://schemas.openxmlformats.org/officeDocument/2006/relationships/slideMaster" Target="/ppt/slideMasters/slideMaster1.xml" Id="R1c3a36b6342a4fb7" /><Relationship Type="http://schemas.openxmlformats.org/officeDocument/2006/relationships/notesMaster" Target="/ppt/notesMasters/notesMaster1.xml" Id="R7ebc07cdccb34e56" /><Relationship Type="http://schemas.openxmlformats.org/officeDocument/2006/relationships/presProps" Target="/ppt/presProps.xml" Id="R36d64812e5dd4b73" /><Relationship Type="http://schemas.openxmlformats.org/officeDocument/2006/relationships/tableStyles" Target="/ppt/tableStyles.xml" Id="R5b088e5a98ea4554" /><Relationship Type="http://schemas.openxmlformats.org/officeDocument/2006/relationships/slide" Target="/ppt/slides/slide1.xml" Id="Rcd21ea029c184182" /><Relationship Type="http://schemas.openxmlformats.org/officeDocument/2006/relationships/slide" Target="/ppt/slides/slide2.xml" Id="R2ef3c63136b74ce3" /><Relationship Type="http://schemas.openxmlformats.org/officeDocument/2006/relationships/slide" Target="/ppt/slides/slide3.xml" Id="Rb7bc2be3e9af44c7" /><Relationship Type="http://schemas.openxmlformats.org/officeDocument/2006/relationships/slide" Target="/ppt/slides/slide4.xml" Id="R909c5ca4eb28449b" /><Relationship Type="http://schemas.openxmlformats.org/officeDocument/2006/relationships/slide" Target="/ppt/slides/slide5.xml" Id="Rc71227d1ff8b47ab" /><Relationship Type="http://schemas.openxmlformats.org/officeDocument/2006/relationships/slide" Target="/ppt/slides/slide6.xml" Id="R8daadfe9750a4d14" /><Relationship Type="http://schemas.openxmlformats.org/officeDocument/2006/relationships/slide" Target="/ppt/slides/slide7.xml" Id="R623d9c7c15104d9d" /><Relationship Type="http://schemas.openxmlformats.org/officeDocument/2006/relationships/slide" Target="/ppt/slides/slide8.xml" Id="Rf9c7b3da961340b1" /><Relationship Type="http://schemas.openxmlformats.org/officeDocument/2006/relationships/slide" Target="/ppt/slides/slide9.xml" Id="Re7b8ab50e89647a1" /><Relationship Type="http://schemas.openxmlformats.org/officeDocument/2006/relationships/slide" Target="/ppt/slides/slide10.xml" Id="R040aa02f8d1d45f9" /><Relationship Type="http://schemas.openxmlformats.org/officeDocument/2006/relationships/slide" Target="/ppt/slides/slide11.xml" Id="R462c49029c634535" /><Relationship Type="http://schemas.openxmlformats.org/officeDocument/2006/relationships/slide" Target="/ppt/slides/slide12.xml" Id="R83b00946dc104f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71675b554f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876bc051614969" /><Relationship Type="http://schemas.openxmlformats.org/officeDocument/2006/relationships/notesMaster" Target="/ppt/notesMasters/notesMaster1.xml" Id="R2be0a818f13847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582b26a294cce" /><Relationship Type="http://schemas.openxmlformats.org/officeDocument/2006/relationships/notesMaster" Target="/ppt/notesMasters/notesMaster1.xml" Id="Rbbc54a4d8a81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a98a04e29047cc" /><Relationship Type="http://schemas.openxmlformats.org/officeDocument/2006/relationships/notesMaster" Target="/ppt/notesMasters/notesMaster1.xml" Id="R6bd38e25d722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66a656eea54495" /><Relationship Type="http://schemas.openxmlformats.org/officeDocument/2006/relationships/notesMaster" Target="/ppt/notesMasters/notesMaster1.xml" Id="R152935d231c445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cb9afddba4b12" /><Relationship Type="http://schemas.openxmlformats.org/officeDocument/2006/relationships/notesMaster" Target="/ppt/notesMasters/notesMaster1.xml" Id="Ra96449720ebf4a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4f32c5c2fa41df" /><Relationship Type="http://schemas.openxmlformats.org/officeDocument/2006/relationships/notesMaster" Target="/ppt/notesMasters/notesMaster1.xml" Id="R9798ee3f9516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e0732f5a0b441c" /><Relationship Type="http://schemas.openxmlformats.org/officeDocument/2006/relationships/notesMaster" Target="/ppt/notesMasters/notesMaster1.xml" Id="Rd95e5a9991b6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750c25b7b48d2" /><Relationship Type="http://schemas.openxmlformats.org/officeDocument/2006/relationships/notesMaster" Target="/ppt/notesMasters/notesMaster1.xml" Id="Re1e51d04adba46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04b754888449a6" /><Relationship Type="http://schemas.openxmlformats.org/officeDocument/2006/relationships/notesMaster" Target="/ppt/notesMasters/notesMaster1.xml" Id="R1783d4e36ef744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73e6a234d94b4d" /><Relationship Type="http://schemas.openxmlformats.org/officeDocument/2006/relationships/notesMaster" Target="/ppt/notesMasters/notesMaster1.xml" Id="Re290c17501db48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834d572c14508" /><Relationship Type="http://schemas.openxmlformats.org/officeDocument/2006/relationships/notesMaster" Target="/ppt/notesMasters/notesMaster1.xml" Id="R41d712893aa043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d92ec71b884821" /><Relationship Type="http://schemas.openxmlformats.org/officeDocument/2006/relationships/notesMaster" Target="/ppt/notesMasters/notesMaster1.xml" Id="R45505b87987a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Körset — сервис выбора продуктов для магазинов Казахстана. Коммерческий контекст: docs/vault/decisions/2026-09-30-b2b-sales-and-onboarding.md. Иллюстративная сцена у полки: assets/hero.png. Она не изображает действующего клиента.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интерфейса: снимок категорий Körset от 27.09.2026, scratch/catalog-refinement/ru-light-390.png. Это пример интерфейса. MARS — демонстрационный магазин. Источники функций: src/screens/CatalogScreen.jsx, src/screens/HomeScreen.jsx, src/contexts/StoreContext.jsx.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экран пищевых предпочтений Körset от 30.09.2026. Fit-Check — проверка соответствия предпочтениям покупателя. Источники: src/utils/fitCheck.js, src/screens/ProductScreen.jsx. Результат зависит от полноты сведений о продукте. Проверка не заменяет маркировку упаковки.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стартовый экран помощника Körset от 30.09.2026. Источники функций: src/domain/product/comparison.js, src/screens/ProductScreen.jsx, src/screens/ShoppingListScreen.jsx, src/contexts/StoreContext.jsx, src/domain/offline/offlineStatus.js. Доступ без сети относится к предварительно сохранённым данным. Для обновления данных и ответов помощника нужна связь.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управление хитами и скидками в кабинете магазина, src/utils/shoppingRecommendations.js. Рекомендации учитывают контекст покупателя, наличие и цену. Дополнительные покупки зависят от использования сервиса. Управление сроками годности и маржой не входит в это описание.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supabase/migrations/076_retail_analytics_and_rpc_hardening.sql и кабинет магазина. Схема связывает интерес покупателей с возможными действиями владельца. Сканирования и неизвестные штрихкоды не равны покупкам, фактическую выручку измеряют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планы медийного продвижения владельца от 30.09.2026, docs/vault/decisions/2026-09-30-b2b-sales-and-onboarding.md. Instagram/TikTok, совместные ролики и индивидуальные адаптации — будущие направления. Сроки и охваты не гарантируются. Сгенерированная сцена съёмки иллюстративная, не история выполненного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docs/vault/knowledge/1c-integration-handoff.md, src/utils/retailImportCore.js. Сейчас доступен файловый импорт. Автоматический обмен находится в разработке. Целевой состав обмена: названия, цены и наличие. Совместимость зависит от программы, версии, доработок и технических доступов.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Условия запуска: лично основатель, техническое подключение без отдельной платы. Разовые материалы и установка от 5000 KZT по согласованной смете, включая держатели/крепления. Сроки после осмотра точки. Источник: docs/vault/decisions/2026-09-30-b2b-sales-and-onboarding.md.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База: 15000 KZT/месяц за одну точку. При полной предоплате скидки 3/6/12 месяцев: 5/10/15%. Сумма: 15000 × число месяцев × (1 − скидка). 42750/81000/153000 KZT. Годовая экономия 27000 KZT относительно 12 отдельных месячных платежей. Физические материалы отдельные. Источник: docs/vault/plans/2026-09-30-b2b-sales-deck-research.md.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условия основателя Körset от 30.09.2026. Личное сопровождение до полуночи, ориентир ответа WhatsApp до часа. Время исправления зависит от сложности. Согласованная цена и функции действуют до конца оплаченного периода. Предлагаемое правило прекращения: возврат неиспользованных дней по фактически оплаченной ставке без штрафа. Детали фиксируют до оплаты. Изготовленные материалы остаются у магазина.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MARS — демонстрационный магазин. Ссылка и точный QR-код: https://korset.app/s/mars/. Для обсуждения подключения — представитель Körset, направивший презентацию. Фотография продуктов assets/groceries.png — сгенерированная иллюстрация.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8b420abad4f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2d033dec447ad" /><Relationship Type="http://schemas.openxmlformats.org/officeDocument/2006/relationships/slideLayout" Target="/ppt/slideLayouts/slideLayout1.xml" Id="Rd26a3d35ecb0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a3d35ecb0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7672c3083438f" /><Relationship Type="http://schemas.openxmlformats.org/officeDocument/2006/relationships/image" Target="/ppt/media/image.png" Id="R3b697856d4f947cd" /><Relationship Type="http://schemas.openxmlformats.org/officeDocument/2006/relationships/image" Target="/ppt/media/image2.png" Id="Re2aa55140a3e4fe9" /><Relationship Type="http://schemas.openxmlformats.org/officeDocument/2006/relationships/notesSlide" Target="/ppt/notesSlides/notesSlide1.xml" Id="R2469d35f9772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c8a8cf53b4932" /><Relationship Type="http://schemas.openxmlformats.org/officeDocument/2006/relationships/image" Target="/ppt/media/image3.png" Id="Rd684476a4a72443f" /><Relationship Type="http://schemas.openxmlformats.org/officeDocument/2006/relationships/image" Target="/ppt/media/image4.png" Id="R48b40b4428d44f54" /><Relationship Type="http://schemas.openxmlformats.org/officeDocument/2006/relationships/notesSlide" Target="/ppt/notesSlides/notesSlide2.xml" Id="R3821a3a9d9c8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ae35af67e4abe" /><Relationship Type="http://schemas.openxmlformats.org/officeDocument/2006/relationships/image" Target="/ppt/media/image5.png" Id="Rb002ed63e52b4707" /><Relationship Type="http://schemas.openxmlformats.org/officeDocument/2006/relationships/image" Target="/ppt/media/image6.png" Id="R41621867517b440c" /><Relationship Type="http://schemas.openxmlformats.org/officeDocument/2006/relationships/notesSlide" Target="/ppt/notesSlides/notesSlide3.xml" Id="Re098fc4b2d07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809968e464f90" /><Relationship Type="http://schemas.openxmlformats.org/officeDocument/2006/relationships/image" Target="/ppt/media/image7.png" Id="R2cf22bdb90ac45a8" /><Relationship Type="http://schemas.openxmlformats.org/officeDocument/2006/relationships/image" Target="/ppt/media/image8.png" Id="Rc6e6d4b78ef643b4" /><Relationship Type="http://schemas.openxmlformats.org/officeDocument/2006/relationships/notesSlide" Target="/ppt/notesSlides/notesSlide4.xml" Id="R2c5a01b09e20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c271ecc5e4311" /><Relationship Type="http://schemas.openxmlformats.org/officeDocument/2006/relationships/image" Target="/ppt/media/image9.png" Id="R17f747802ac54437" /><Relationship Type="http://schemas.openxmlformats.org/officeDocument/2006/relationships/notesSlide" Target="/ppt/notesSlides/notesSlide5.xml" Id="R8e4bc83c7d3149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15535875849c6" /><Relationship Type="http://schemas.openxmlformats.org/officeDocument/2006/relationships/image" Target="/ppt/media/image10.png" Id="R8b6dcb755a074d51" /><Relationship Type="http://schemas.openxmlformats.org/officeDocument/2006/relationships/notesSlide" Target="/ppt/notesSlides/notesSlide6.xml" Id="R718c884e94e44d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efd9faff4f07" /><Relationship Type="http://schemas.openxmlformats.org/officeDocument/2006/relationships/image" Target="/ppt/media/image11.png" Id="R705339df2bd44012" /><Relationship Type="http://schemas.openxmlformats.org/officeDocument/2006/relationships/image" Target="/ppt/media/image12.png" Id="R2b02d2043fff4404" /><Relationship Type="http://schemas.openxmlformats.org/officeDocument/2006/relationships/notesSlide" Target="/ppt/notesSlides/notesSlide7.xml" Id="Rcb628ccc8fbc40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60c828d7545c7" /><Relationship Type="http://schemas.openxmlformats.org/officeDocument/2006/relationships/image" Target="/ppt/media/image13.png" Id="Rfb7c609c7cc240bc" /><Relationship Type="http://schemas.openxmlformats.org/officeDocument/2006/relationships/notesSlide" Target="/ppt/notesSlides/notesSlide8.xml" Id="R4602ff5f79b648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ac77c363b4461" /><Relationship Type="http://schemas.openxmlformats.org/officeDocument/2006/relationships/image" Target="/ppt/media/image14.png" Id="Rd8ab62317ee84ca0" /><Relationship Type="http://schemas.openxmlformats.org/officeDocument/2006/relationships/notesSlide" Target="/ppt/notesSlides/notesSlide9.xml" Id="R80fe162e3c4344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590fa5e964b1b" /><Relationship Type="http://schemas.openxmlformats.org/officeDocument/2006/relationships/image" Target="/ppt/media/image15.png" Id="Rb0fd6e1ef97a42ca" /><Relationship Type="http://schemas.openxmlformats.org/officeDocument/2006/relationships/notesSlide" Target="/ppt/notesSlides/notesSlide10.xml" Id="R159862a60a984e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ca0420bf4dfa" /><Relationship Type="http://schemas.openxmlformats.org/officeDocument/2006/relationships/image" Target="/ppt/media/image16.png" Id="R6d095e7b13884c63" /><Relationship Type="http://schemas.openxmlformats.org/officeDocument/2006/relationships/notesSlide" Target="/ppt/notesSlides/notesSlide11.xml" Id="R1908a0704f884d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e079f43064309" /><Relationship Type="http://schemas.openxmlformats.org/officeDocument/2006/relationships/image" Target="/ppt/media/image17.png" Id="Rec9ec5c6a0a04d39" /><Relationship Type="http://schemas.openxmlformats.org/officeDocument/2006/relationships/image" Target="/ppt/media/image18.png" Id="Rf0223bac73d14649" /><Relationship Type="http://schemas.openxmlformats.org/officeDocument/2006/relationships/image" Target="/ppt/media/image19.png" Id="R22fd61184ac34629" /><Relationship Type="http://schemas.openxmlformats.org/officeDocument/2006/relationships/hyperlink" Target="https://korset.app/s/mars/" TargetMode="External" Id="R4931c4761d9e48e2" /><Relationship Type="http://schemas.openxmlformats.org/officeDocument/2006/relationships/notesSlide" Target="/ppt/notesSlides/notesSlide12.xml" Id="Re6c5da27fdd4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97856d4f947cd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705DB8FC-A9D5-4914-B268-32E9161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952344-CBA5-417A-8EAF-29D448A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154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Ваш магазин</a:t>
            </a:r>
          </a:p>
          <a:p xmlns:a="http://schemas.openxmlformats.org/drawingml/2006/main">
            <a:pPr algn="l">
              <a:defRPr sz="6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 телефоне</a:t>
            </a:r>
          </a:p>
          <a:p xmlns:a="http://schemas.openxmlformats.org/drawingml/2006/main">
            <a:pPr algn="l">
              <a:defRPr sz="6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покупателя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6110DBED-8D2C-41BD-9901-EAD7656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915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Цифровая витрина и помощь в выборе</a:t>
            </a:r>
          </a:p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для продуктовых магазинов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55140a3e4fe9"/>
          <a:srcRect xmlns:a="http://schemas.openxmlformats.org/drawingml/2006/main" l="0" t="7153" r="0" b="7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981825"/>
            <a:ext cx="10287000" cy="5876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6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4476a4a72443f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8303B45D-075B-417D-AD62-EC84308D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A56E0C-1CAF-4D4F-A5C7-FCD282F9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Цифровая</a:t>
            </a:r>
          </a:p>
          <a:p xmlns:a="http://schemas.openxmlformats.org/drawingml/2006/main">
            <a:pPr algn="l">
              <a:defRPr sz="56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витрина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88CA6862-C8CE-41FB-A64F-4A737F2B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891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Каталог конкретного магазина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открывается по QR-коду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40b4428d44f54"/>
          <a:stretch xmlns:a="http://schemas.openxmlformats.org/drawingml/2006/main"/>
        </p:blipFill>
        <p:spPr>
          <a:xfrm xmlns:a="http://schemas.openxmlformats.org/drawingml/2006/main">
            <a:off x="5267325" y="4908550"/>
            <a:ext cx="4333875" cy="6889750"/>
          </a:xfrm>
          <a:prstGeom xmlns:a="http://schemas.openxmlformats.org/drawingml/2006/main" prst="rect">
            <a:avLst/>
          </a:prstGeom>
        </p:spPr>
      </p:pic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60F30251-799C-4869-93F6-C5F1A75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952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Ассортимент</a:t>
            </a:r>
          </a:p>
          <a:p xmlns:a="http://schemas.openxmlformats.org/drawingml/2006/main">
            <a:pPr algn="l">
              <a:defRPr sz="36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и цены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4AED6570-54B9-44EE-BCFC-7D03828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0"/>
            <a:ext cx="3952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Наличие, контакты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 часы работы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609AAF3-CFC4-41D5-AB08-663308F0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0"/>
            <a:ext cx="3952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Покупатель пользуется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бесплатно, через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браузер телефона</a:t>
            </a:r>
          </a:p>
        </p:txBody>
      </p:sp>
      <p:sp>
        <p:nvSpPr>
          <p:cNvPr id="9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B6C52DDA-A746-408C-80D9-39A08FAD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Пример интерфейса. MARS — демонстрационный магазин.</a:t>
            </a:r>
          </a:p>
        </p:txBody>
      </p:sp>
    </p:spTree>
    <p:extLst>
      <p:ext uri="{BB962C8B-B14F-4D97-AF65-F5344CB8AC3E}">
        <p14:creationId xmlns:p14="http://schemas.microsoft.com/office/powerpoint/2010/main" val="1189788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2ed63e52b4707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409F637-5C8A-40D6-83A0-4778022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C94B4-695B-4361-B383-72E01A5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Выбор с учётом</a:t>
            </a:r>
          </a:p>
          <a:p xmlns:a="http://schemas.openxmlformats.org/drawingml/2006/main">
            <a:pPr algn="l">
              <a:defRPr sz="54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предпочтений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9017AA4B-367B-4699-8102-059F973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91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Fit-Check: проверка предпочтений</a:t>
            </a:r>
          </a:p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 штрихкоду и сведениям о составе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21867517b440c"/>
          <a:srcRect xmlns:a="http://schemas.openxmlformats.org/drawingml/2006/main" l="0" t="100" r="0" b="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5676900"/>
            <a:ext cx="4705350" cy="5981700"/>
          </a:xfrm>
          <a:prstGeom xmlns:a="http://schemas.openxmlformats.org/drawingml/2006/main" prst="rect">
            <a:avLst/>
          </a:prstGeom>
        </p:spPr>
      </p:pic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1BB58AD2-99E6-4791-9605-C057E2A7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3733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Состав</a:t>
            </a:r>
          </a:p>
          <a:p xmlns:a="http://schemas.openxmlformats.org/drawingml/2006/main">
            <a:pPr algn="l">
              <a:defRPr sz="35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и аллергены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3F4ECDBA-DD88-4DF2-9CBB-25877C3E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0"/>
            <a:ext cx="3733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Пищевая ценность,</a:t>
            </a:r>
          </a:p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халал и диеты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B39A917C-F875-4075-85AF-5A72C0D2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20275"/>
            <a:ext cx="3714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Часть вопросов</a:t>
            </a:r>
          </a:p>
          <a:p xmlns:a="http://schemas.openxmlformats.org/drawingml/2006/main">
            <a:pPr algn="l">
              <a:defRPr sz="29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покупатель</a:t>
            </a:r>
          </a:p>
          <a:p xmlns:a="http://schemas.openxmlformats.org/drawingml/2006/main">
            <a:pPr algn="l">
              <a:defRPr sz="29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решает сам</a:t>
            </a:r>
          </a:p>
        </p:txBody>
      </p:sp>
      <p:sp>
        <p:nvSpPr>
          <p:cNvPr id="9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3793A002-A39A-43B2-AE60-AA14E51E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8915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Полнота проверки зависит от данных. Состав сверяют с упаковкой.</a:t>
            </a:r>
          </a:p>
        </p:txBody>
      </p:sp>
    </p:spTree>
    <p:extLst>
      <p:ext uri="{BB962C8B-B14F-4D97-AF65-F5344CB8AC3E}">
        <p14:creationId xmlns:p14="http://schemas.microsoft.com/office/powerpoint/2010/main" val="1003484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2bdb90ac45a8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296671B-F29E-40EF-A40E-32443AD4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1BDB44-85AD-4D4D-9069-B85E810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От выбора</a:t>
            </a:r>
          </a:p>
          <a:p xmlns:a="http://schemas.openxmlformats.org/drawingml/2006/main">
            <a:pPr algn="l">
              <a:defRPr sz="54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к списку покупок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424FC0BA-80FE-464A-9B93-E584E937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33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Сравнение товаров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A30A0449-CFF0-4A40-805D-C5C512F9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33387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Цена за килограмм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или литр помогает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сравнить упаковки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9F3E0F51-7C10-4FCF-9597-60A1DD9B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Список покупок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388BFC7E-6FFA-4B09-A717-749D9D2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01075"/>
            <a:ext cx="4333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Нужные позиции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из каталога остаются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под рукой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6d4b78ef643b4"/>
          <a:srcRect xmlns:a="http://schemas.openxmlformats.org/drawingml/2006/main" l="54" t="0" r="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475" y="4295775"/>
            <a:ext cx="4276725" cy="4791075"/>
          </a:xfrm>
          <a:prstGeom xmlns:a="http://schemas.openxmlformats.org/drawingml/2006/main" prst="rect">
            <a:avLst/>
          </a:prstGeom>
        </p:spPr>
      </p:pic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7524EF05-82F5-48BA-8F1E-5BBFE995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9515475"/>
            <a:ext cx="42767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ИИ-помощник</a:t>
            </a:r>
          </a:p>
          <a:p xmlns:a="http://schemas.openxmlformats.org/drawingml/2006/main">
            <a:pPr algn="l">
              <a:defRPr sz="28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для поиска товаров</a:t>
            </a:r>
          </a:p>
          <a:p xmlns:a="http://schemas.openxmlformats.org/drawingml/2006/main">
            <a:pPr algn="l">
              <a:defRPr sz="28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 вопросов о составе</a:t>
            </a:r>
          </a:p>
        </p:txBody>
      </p:sp>
      <p:sp>
        <p:nvSpPr>
          <p:cNvPr id="10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8A51E0A5-C3FE-488C-914B-9D67C14F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1450"/>
            <a:ext cx="8915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Загруженные данные доступны без сети. Обновления цен и онлайн-помощник требуют связи.</a:t>
            </a:r>
          </a:p>
        </p:txBody>
      </p:sp>
    </p:spTree>
    <p:extLst>
      <p:ext uri="{BB962C8B-B14F-4D97-AF65-F5344CB8AC3E}">
        <p14:creationId xmlns:p14="http://schemas.microsoft.com/office/powerpoint/2010/main" val="742514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747802ac54437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BCC025C-0663-4462-B87C-9A6B47E2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DE014A-6DEB-45ED-A6B1-4C8F2F5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Ваши товары</a:t>
            </a:r>
          </a:p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легче заметить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A0DE27FE-BF43-4C17-95A7-CB330674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915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Хиты и скидки помогают представить</a:t>
            </a:r>
          </a:p>
          <a:p xmlns:a="http://schemas.openxmlformats.org/drawingml/2006/main">
            <a:pPr algn="l">
              <a:defRPr sz="33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нужный ассортимент в каталоге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69447E1C-2FC4-4315-8427-2AF9F72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Магазин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F8110AC6-0FB3-42AC-96AB-450C4B3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247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Выделяет</a:t>
            </a:r>
          </a:p>
          <a:p xmlns:a="http://schemas.openxmlformats.org/drawingml/2006/main">
            <a:pPr algn="l">
              <a:defRPr sz="3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хиты и скидки</a:t>
            </a:r>
          </a:p>
        </p:txBody>
      </p:sp>
      <p:sp>
        <p:nvSpPr>
          <p:cNvPr id="7" name="Process relationship">
            <a:extLst xmlns:a="http://schemas.openxmlformats.org/drawingml/2006/main">
              <a:ext uri="{FF2B5EF4-FFF2-40B4-BE49-F238E27FC236}">
                <a16:creationId xmlns:a16="http://schemas.microsoft.com/office/drawing/2014/main" id="{495912D0-03F9-42E9-9132-7268CF9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29500"/>
            <a:ext cx="904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noFill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2FD7E273-9D1C-40D3-859D-2BFCA0B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0555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A5E23562-7B37-49F9-BE61-7FDA0B4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24700"/>
            <a:ext cx="3981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Замечает товар</a:t>
            </a:r>
          </a:p>
          <a:p xmlns:a="http://schemas.openxmlformats.org/drawingml/2006/main">
            <a:pPr algn="l">
              <a:defRPr sz="3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и рассматривает</a:t>
            </a:r>
          </a:p>
          <a:p xmlns:a="http://schemas.openxmlformats.org/drawingml/2006/main">
            <a:pPr algn="l">
              <a:defRPr sz="36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его для покупки</a:t>
            </a:r>
          </a:p>
        </p:txBody>
      </p:sp>
      <p:sp>
        <p:nvSpPr>
          <p:cNvPr id="10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9C2CCC18-076E-4D28-A245-F65BED14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0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11" name="Copy">
            <a:extLst xmlns:a="http://schemas.openxmlformats.org/drawingml/2006/main">
              <a:ext uri="{FF2B5EF4-FFF2-40B4-BE49-F238E27FC236}">
                <a16:creationId xmlns:a16="http://schemas.microsoft.com/office/drawing/2014/main" id="{DA38D725-4EB2-4734-8193-B03ADF1F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0"/>
            <a:ext cx="8915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Рекомендации внутри магазина</a:t>
            </a:r>
          </a:p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помогают найти подходящие альтернативы</a:t>
            </a:r>
          </a:p>
        </p:txBody>
      </p:sp>
      <p:sp>
        <p:nvSpPr>
          <p:cNvPr id="12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69804693-D889-4B7D-BC08-15BD214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44350"/>
            <a:ext cx="891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Результат зависит от ассортимента и использования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2014827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cb755a074d51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4C0D5A6F-1062-4B92-AE0A-08E8D3D7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E93483-7428-4D48-ABEF-26A59FB6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Какие товары</a:t>
            </a:r>
          </a:p>
          <a:p xmlns:a="http://schemas.openxmlformats.org/drawingml/2006/main">
            <a:pPr algn="l">
              <a:defRPr sz="49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интересуют покупателей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4740F716-11AA-429B-AA51-97F4DF5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915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Кабинет магазина показывает</a:t>
            </a:r>
          </a:p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использование сервиса</a:t>
            </a:r>
          </a:p>
        </p:txBody>
      </p:sp>
      <p:sp>
        <p:nvSpPr>
          <p:cNvPr id="5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CE6AF406-1A9E-468D-86F5-1EEF503B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8CAAE6B4-74A1-4880-BCCA-58911CC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Часто сканируют</a:t>
            </a:r>
          </a:p>
        </p:txBody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C4F9A238-B586-4465-A07C-998C7694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05500"/>
            <a:ext cx="50768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Проверить цену, наличие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 выкладку товара</a:t>
            </a:r>
          </a:p>
        </p:txBody>
      </p:sp>
      <p:sp>
        <p:nvSpPr>
          <p:cNvPr id="8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D01B2A8C-C16A-4B2A-BD03-9D856E6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62850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782354E7-8134-42E3-A1B1-AC96B8E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00975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Не находят</a:t>
            </a:r>
          </a:p>
          <a:p xmlns:a="http://schemas.openxmlformats.org/drawingml/2006/main">
            <a:pPr algn="l">
              <a:defRPr sz="30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 каталоге</a:t>
            </a:r>
          </a:p>
        </p:txBody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69FE5D81-2EBC-4A5E-A4F0-CFD234A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800975"/>
            <a:ext cx="50768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Дополнить сведения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 ассортимент витрины</a:t>
            </a:r>
          </a:p>
        </p:txBody>
      </p:sp>
      <p:sp>
        <p:nvSpPr>
          <p:cNvPr id="11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69B5613B-01A9-4056-BA57-75EB7F08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72625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44249718-020C-445A-98A3-C844D421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Ищут товар</a:t>
            </a:r>
          </a:p>
          <a:p xmlns:a="http://schemas.openxmlformats.org/drawingml/2006/main">
            <a:pPr algn="l">
              <a:defRPr sz="30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без наличия</a:t>
            </a:r>
          </a:p>
        </p:txBody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F7BD95BA-B676-4775-9797-CAF1805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810750"/>
            <a:ext cx="50768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Рассмотреть пополнение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или альтернативу</a:t>
            </a:r>
          </a:p>
        </p:txBody>
      </p:sp>
      <p:sp>
        <p:nvSpPr>
          <p:cNvPr id="14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59676119-5EA9-4FBE-957F-BD6CC1F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0"/>
            <a:ext cx="8915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Сканирования показывают интерес. Покупки и влияние на выручку измеряют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802459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339df2bd44012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3F556E66-B653-46EB-9244-A747118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FD0BB-0AD1-4AA0-95E4-DC09457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Продвижение</a:t>
            </a:r>
          </a:p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вашего магазина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617DC04B-C6CE-427E-A13E-E1571AA2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915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Instagram и TikTok для партнёров</a:t>
            </a:r>
          </a:p>
          <a:p xmlns:a="http://schemas.openxmlformats.org/drawingml/2006/main">
            <a:pPr algn="l">
              <a:defRPr sz="3375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Планируется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2d2043fff4404"/>
          <a:srcRect xmlns:a="http://schemas.openxmlformats.org/drawingml/2006/main" l="0" t="20486" r="0" b="20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10250"/>
            <a:ext cx="1028700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F1E187A4-7C94-4C11-A9C2-D778BB1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0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Ролики о выборе продуктов в магазине.</a:t>
            </a:r>
          </a:p>
          <a:p xmlns:a="http://schemas.openxmlformats.org/drawingml/2006/main">
            <a:pPr algn="l">
              <a:defRPr sz="28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Совместные съёмки и адаптация витрины.</a:t>
            </a:r>
          </a:p>
        </p:txBody>
      </p:sp>
      <p:sp>
        <p:nvSpPr>
          <p:cNvPr id="7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94FDF1D9-C408-4E4E-8E5A-A23B354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58575"/>
            <a:ext cx="891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В планах Pro: расширенный тариф. Enterprise: индивидуальные решения.</a:t>
            </a:r>
          </a:p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Съёмки согласуем отдельно, охваты не гарантируем.</a:t>
            </a:r>
          </a:p>
        </p:txBody>
      </p:sp>
    </p:spTree>
    <p:extLst>
      <p:ext uri="{BB962C8B-B14F-4D97-AF65-F5344CB8AC3E}">
        <p14:creationId xmlns:p14="http://schemas.microsoft.com/office/powerpoint/2010/main" val="576113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c609c7cc240bc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EE1281B9-2E9C-4422-AB39-E17A3FC0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19B3A5-B0D7-468A-A2D4-2DBE5BF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Обмен с вашей</a:t>
            </a:r>
          </a:p>
          <a:p xmlns:a="http://schemas.openxmlformats.org/drawingml/2006/main">
            <a:pPr algn="l">
              <a:defRPr sz="57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системой учёта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F5513F65-FFBF-464D-B671-3875C1A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Готовим автоматическое обновление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52734B06-D4F1-48F6-8600-ACAE1E00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915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Цель: цены, названия и наличие</a:t>
            </a:r>
          </a:p>
          <a:p xmlns:a="http://schemas.openxmlformats.org/drawingml/2006/main">
            <a:pPr algn="l">
              <a:defRPr sz="32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в Körset без повторного ввода магазином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7EAF768E-B865-4452-93CC-0282C123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Учётная</a:t>
            </a:r>
          </a:p>
          <a:p xmlns:a="http://schemas.openxmlformats.org/drawingml/2006/main">
            <a:pPr algn="l">
              <a:defRPr sz="40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7" name="Process relationship">
            <a:extLst xmlns:a="http://schemas.openxmlformats.org/drawingml/2006/main">
              <a:ext uri="{FF2B5EF4-FFF2-40B4-BE49-F238E27FC236}">
                <a16:creationId xmlns:a16="http://schemas.microsoft.com/office/drawing/2014/main" id="{12FAF612-8878-4113-BAC8-F76941CB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7791450"/>
            <a:ext cx="990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5DFC"/>
          </a:solidFill>
          <a:ln xmlns:a="http://schemas.openxmlformats.org/drawingml/2006/main" w="0">
            <a:noFill/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BAD23B0D-AA41-42FD-84E3-69AA837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334250"/>
            <a:ext cx="3543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Каталог</a:t>
            </a:r>
          </a:p>
          <a:p xmlns:a="http://schemas.openxmlformats.org/drawingml/2006/main">
            <a:pPr algn="l">
              <a:defRPr sz="40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Körset</a:t>
            </a:r>
          </a:p>
        </p:txBody>
      </p:sp>
      <p:sp>
        <p:nvSpPr>
          <p:cNvPr id="9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54864D90-E721-47FA-B46C-70B88E25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96425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CA1F4E62-7AE3-4F28-954C-AA6A2A78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9154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Сейчас каталог можно загрузить из файла.</a:t>
            </a:r>
          </a:p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Для обмена проверяем вашу программу,</a:t>
            </a:r>
          </a:p>
          <a:p xmlns:a="http://schemas.openxmlformats.org/drawingml/2006/main">
            <a:pPr algn="l">
              <a:defRPr sz="31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версию и условия подключения.</a:t>
            </a:r>
          </a:p>
        </p:txBody>
      </p:sp>
      <p:sp>
        <p:nvSpPr>
          <p:cNvPr id="11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F7BA9723-1DB2-4D5C-BBE5-90E14A4A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0"/>
            <a:ext cx="891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Обмен в разработке. Совместимость с 1С проверяем индивидуально.</a:t>
            </a:r>
          </a:p>
        </p:txBody>
      </p:sp>
    </p:spTree>
    <p:extLst>
      <p:ext uri="{BB962C8B-B14F-4D97-AF65-F5344CB8AC3E}">
        <p14:creationId xmlns:p14="http://schemas.microsoft.com/office/powerpoint/2010/main" val="569304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b62317ee84ca0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273F71E3-A1E8-4B9F-814A-42BBEC5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301F7-431B-4B38-95BB-3F1C8793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Запуск</a:t>
            </a:r>
          </a:p>
          <a:p xmlns:a="http://schemas.openxmlformats.org/drawingml/2006/main">
            <a:pPr algn="l">
              <a:defRPr sz="58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в вашем магазине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E6859FC3-E02F-41F9-8D03-B6BC6149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10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C8576FBF-7FCC-428E-A045-99AC538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43425"/>
            <a:ext cx="7277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Осмотр и настройка</a:t>
            </a:r>
          </a:p>
        </p:txBody>
      </p:sp>
      <p:sp>
        <p:nvSpPr>
          <p:cNvPr id="6" name="Copy">
            <a:extLst xmlns:a="http://schemas.openxmlformats.org/drawingml/2006/main">
              <a:ext uri="{FF2B5EF4-FFF2-40B4-BE49-F238E27FC236}">
                <a16:creationId xmlns:a16="http://schemas.microsoft.com/office/drawing/2014/main" id="{D7C76B63-56F6-4107-BDF6-0CE7903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7277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Проверяем каталог и систему учёта.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Обсуждаем размещение материалов.</a:t>
            </a:r>
          </a:p>
        </p:txBody>
      </p:sp>
      <p:sp>
        <p:nvSpPr>
          <p:cNvPr id="7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52E40704-99DD-4781-A659-CE215FF1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00875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F6FEF2B7-C94E-4D5A-BBF5-BC05CC2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0"/>
            <a:ext cx="110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1F43B90D-B030-4549-BD1E-C12F1B4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400925"/>
            <a:ext cx="7277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QR рядом с покупателем</a:t>
            </a:r>
          </a:p>
        </p:txBody>
      </p:sp>
      <p:sp>
        <p:nvSpPr>
          <p:cNvPr id="10" name="Copy">
            <a:extLst xmlns:a="http://schemas.openxmlformats.org/drawingml/2006/main">
              <a:ext uri="{FF2B5EF4-FFF2-40B4-BE49-F238E27FC236}">
                <a16:creationId xmlns:a16="http://schemas.microsoft.com/office/drawing/2014/main" id="{CF4E5EE6-7DE1-44D0-B91E-0C4E33A1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8334375"/>
            <a:ext cx="7277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Баннер, полки, вход и касса.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Формат и количество — по вашей точке.</a:t>
            </a:r>
          </a:p>
        </p:txBody>
      </p:sp>
      <p:sp>
        <p:nvSpPr>
          <p:cNvPr id="11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ED0EB3EA-E740-4ADF-935A-E8126033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67900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12" name="Copy">
            <a:extLst xmlns:a="http://schemas.openxmlformats.org/drawingml/2006/main">
              <a:ext uri="{FF2B5EF4-FFF2-40B4-BE49-F238E27FC236}">
                <a16:creationId xmlns:a16="http://schemas.microsoft.com/office/drawing/2014/main" id="{5C3BDC3A-22B2-42AC-9FDC-04DFD494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67950"/>
            <a:ext cx="891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Техническое подключение — бесплатно</a:t>
            </a:r>
          </a:p>
        </p:txBody>
      </p:sp>
      <p:sp>
        <p:nvSpPr>
          <p:cNvPr id="13" name="Copy">
            <a:extLst xmlns:a="http://schemas.openxmlformats.org/drawingml/2006/main">
              <a:ext uri="{FF2B5EF4-FFF2-40B4-BE49-F238E27FC236}">
                <a16:creationId xmlns:a16="http://schemas.microsoft.com/office/drawing/2014/main" id="{E661BB86-58AD-4CC8-9410-E9BCA13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20450"/>
            <a:ext cx="8915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Печать и установка — от 5 000 ₸ разово.</a:t>
            </a:r>
          </a:p>
          <a:p xmlns:a="http://schemas.openxmlformats.org/drawingml/2006/main">
            <a:pPr algn="l">
              <a:defRPr sz="292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Крепления и держатели входят в смету.</a:t>
            </a:r>
          </a:p>
        </p:txBody>
      </p:sp>
    </p:spTree>
    <p:extLst>
      <p:ext uri="{BB962C8B-B14F-4D97-AF65-F5344CB8AC3E}">
        <p14:creationId xmlns:p14="http://schemas.microsoft.com/office/powerpoint/2010/main" val="1144353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9E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d6e1ef97a42ca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DD71B96A-A4E7-40E8-A14C-421E3B7A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90D625-6303-40B8-A476-877E0C72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Подписка</a:t>
            </a:r>
          </a:p>
          <a:p xmlns:a="http://schemas.openxmlformats.org/drawingml/2006/main">
            <a:pPr algn="l">
              <a:defRPr sz="57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для одной точки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5DB419EF-5642-4186-86AE-B9355E1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8915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15 000 ₸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4C907965-9B65-40FE-9D60-0E2C303F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915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в месяц. Все текущие функции включены.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6924675"/>
          <a:ext xmlns:a="http://schemas.openxmlformats.org/drawingml/2006/main" cx="8915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67050"/>
                <a:gridCol w="2095500"/>
                <a:gridCol w="3752850"/>
              </a:tblGrid>
              <a:tr h="777240"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Срок</a:t>
                      </a:r>
                    </a:p>
                  </a:txBody>
                  <a:tcPr marL="190500" marR="152400" marT="114300" marB="114300" anchor="ctr">
                    <a:solidFill>
                      <a:srgbClr val="6D5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Скидка</a:t>
                      </a:r>
                    </a:p>
                  </a:txBody>
                  <a:tcPr marL="190500" marR="152400" marT="114300" marB="114300" anchor="ctr">
                    <a:solidFill>
                      <a:srgbClr val="6D5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2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Оплата сразу</a:t>
                      </a:r>
                    </a:p>
                  </a:txBody>
                  <a:tcPr marL="190500" marR="152400" marT="114300" marB="114300" anchor="ctr">
                    <a:solidFill>
                      <a:srgbClr val="6D5D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 месяц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15 000 ₸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3 месяца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42 750 ₸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6 месяцев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81 000 ₸</a:t>
                      </a:r>
                    </a:p>
                  </a:txBody>
                  <a:tcPr marL="190500" marR="152400" marT="114300" marB="114300" anchor="ctr">
                    <a:solidFill>
                      <a:srgbClr val="E9E5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925" b="1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12 месяцев</a:t>
                      </a:r>
                    </a:p>
                  </a:txBody>
                  <a:tcPr marL="190500" marR="152400" marT="114300" marB="114300" anchor="ctr">
                    <a:solidFill>
                      <a:srgbClr val="DCD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 b="1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190500" marR="152400" marT="114300" marB="114300" anchor="ctr">
                    <a:solidFill>
                      <a:srgbClr val="DCD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25" b="1">
                          <a:solidFill>
                            <a:srgbClr val="242132"/>
                          </a:solidFill>
                          <a:latin typeface="Arial"/>
                          <a:ea typeface="Arial"/>
                          <a:cs typeface="Arial"/>
                        </a:rPr>
                        <a:t>153 000 ₸</a:t>
                      </a:r>
                    </a:p>
                  </a:txBody>
                  <a:tcPr marL="190500" marR="152400" marT="114300" marB="114300" anchor="ctr">
                    <a:solidFill>
                      <a:srgbClr val="DCD6FA"/>
                    </a:solidFill>
                  </a:tcPr>
                </a:tc>
              </a:tr>
            </a:tbl>
          </a:graphicData>
        </a:graphic>
      </p:graphicFrame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E664C11A-83E8-43FE-AFF3-5B34734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91875"/>
            <a:ext cx="891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Годовая экономия: 27 000 ₸</a:t>
            </a:r>
          </a:p>
        </p:txBody>
      </p:sp>
      <p:sp>
        <p:nvSpPr>
          <p:cNvPr id="8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55686E41-A11F-48B3-95B3-25B1287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49125"/>
            <a:ext cx="891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Предоплата за весь срок. Материалы оплачиваются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972036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95e7b13884c63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DDB6753F-F103-451B-90A8-A58CF73D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D27F7E-FC61-4B45-B824-789AE0E2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Запуск и поддержка</a:t>
            </a:r>
          </a:p>
          <a:p xmlns:a="http://schemas.openxmlformats.org/drawingml/2006/main">
            <a:pPr algn="l">
              <a:defRPr sz="510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 основателем Körset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08101B97-CBFE-401F-AD58-3A79ACA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8915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D5DFC"/>
                </a:solidFill>
                <a:latin typeface="Arial"/>
                <a:ea typeface="Arial"/>
                <a:cs typeface="Arial"/>
              </a:rPr>
              <a:t>На связи в WhatsApp до 00:00</a:t>
            </a:r>
          </a:p>
        </p:txBody>
      </p:sp>
      <p:sp>
        <p:nvSpPr>
          <p:cNvPr id="5" name="Copy">
            <a:extLst xmlns:a="http://schemas.openxmlformats.org/drawingml/2006/main">
              <a:ext uri="{FF2B5EF4-FFF2-40B4-BE49-F238E27FC236}">
                <a16:creationId xmlns:a16="http://schemas.microsoft.com/office/drawing/2014/main" id="{F236279F-D35B-408C-8D94-F966E16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89154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Обычно ответ в течение часа.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Ориентир исправления: 1–2 дня,</a:t>
            </a:r>
          </a:p>
          <a:p xmlns:a="http://schemas.openxmlformats.org/drawingml/2006/main">
            <a:pPr algn="l">
              <a:defRPr sz="30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срок зависит от сложности.</a:t>
            </a:r>
          </a:p>
        </p:txBody>
      </p:sp>
      <p:sp>
        <p:nvSpPr>
          <p:cNvPr id="6" name="Diagram separator">
            <a:extLst xmlns:a="http://schemas.openxmlformats.org/drawingml/2006/main">
              <a:ext uri="{FF2B5EF4-FFF2-40B4-BE49-F238E27FC236}">
                <a16:creationId xmlns:a16="http://schemas.microsoft.com/office/drawing/2014/main" id="{A9638C57-1F34-42F6-A476-E4237DA5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E1"/>
            </a:solidFill>
          </a:ln>
        </p:spPr>
      </p:sp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9369D468-4184-4E87-BD19-E461F4E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8915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Цена и согласованные функции</a:t>
            </a:r>
          </a:p>
          <a:p xmlns:a="http://schemas.openxmlformats.org/drawingml/2006/main">
            <a:pPr algn="l">
              <a:defRPr sz="3450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сохраняются до конца оплаты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95E0588D-21CD-4A8C-9303-7C8E48F4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0225"/>
            <a:ext cx="891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Регулярные обновления входят.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Условия новых тарифов и продления</a:t>
            </a:r>
          </a:p>
          <a:p xmlns:a="http://schemas.openxmlformats.org/drawingml/2006/main">
            <a:pPr algn="l">
              <a:defRPr sz="300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обсудим отдельно до следующей оплаты.</a:t>
            </a:r>
          </a:p>
        </p:txBody>
      </p:sp>
      <p:sp>
        <p:nvSpPr>
          <p:cNvPr id="9" name="Visible qualification">
            <a:extLst xmlns:a="http://schemas.openxmlformats.org/drawingml/2006/main">
              <a:ext uri="{FF2B5EF4-FFF2-40B4-BE49-F238E27FC236}">
                <a16:creationId xmlns:a16="http://schemas.microsoft.com/office/drawing/2014/main" id="{4B4CFAB5-5369-4C26-ACA0-1C28E5BA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72875"/>
            <a:ext cx="8915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При прекращении возвращаем неиспользованный срок по оплаченной ставке. Изготовленные материалы остаются у магазина.</a:t>
            </a:r>
          </a:p>
        </p:txBody>
      </p:sp>
    </p:spTree>
    <p:extLst>
      <p:ext uri="{BB962C8B-B14F-4D97-AF65-F5344CB8AC3E}">
        <p14:creationId xmlns:p14="http://schemas.microsoft.com/office/powerpoint/2010/main" val="1963942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ec5c6a0a04d39"/>
          <a:stretch xmlns:a="http://schemas.openxmlformats.org/drawingml/2006/main"/>
        </p:blipFill>
        <p:spPr>
          <a:xfrm xmlns:a="http://schemas.openxmlformats.org/drawingml/2006/main">
            <a:off x="685800" y="523875"/>
            <a:ext cx="2095500" cy="638473"/>
          </a:xfrm>
          <a:prstGeom xmlns:a="http://schemas.openxmlformats.org/drawingml/2006/main" prst="rect">
            <a:avLst/>
          </a:prstGeom>
        </p:spPr>
      </p:pic>
      <p:sp>
        <p:nvSpPr>
          <p:cNvPr id="2" name="Copy">
            <a:extLst xmlns:a="http://schemas.openxmlformats.org/drawingml/2006/main">
              <a:ext uri="{FF2B5EF4-FFF2-40B4-BE49-F238E27FC236}">
                <a16:creationId xmlns:a16="http://schemas.microsoft.com/office/drawing/2014/main" id="{FE1891DE-9D70-4278-A74C-B8E741A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286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05D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5D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F805E7-D1EC-4B8A-B669-0042CF35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915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Körset</a:t>
            </a:r>
          </a:p>
          <a:p xmlns:a="http://schemas.openxmlformats.org/drawingml/2006/main">
            <a:pPr algn="l">
              <a:defRPr sz="577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для вашего магазина</a:t>
            </a:r>
          </a:p>
        </p:txBody>
      </p:sp>
      <p:sp>
        <p:nvSpPr>
          <p:cNvPr id="4" name="Copy">
            <a:extLst xmlns:a="http://schemas.openxmlformats.org/drawingml/2006/main">
              <a:ext uri="{FF2B5EF4-FFF2-40B4-BE49-F238E27FC236}">
                <a16:creationId xmlns:a16="http://schemas.microsoft.com/office/drawing/2014/main" id="{FE28C920-4DB8-4975-9D72-E35F0CD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891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Начнём с демонстрации</a:t>
            </a:r>
          </a:p>
          <a:p xmlns:a="http://schemas.openxmlformats.org/drawingml/2006/main">
            <a:pPr algn="l">
              <a:defRPr sz="3375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и проверки условий подключения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23bac73d14649"/>
          <a:srcRect xmlns:a="http://schemas.openxmlformats.org/drawingml/2006/main" l="0" t="22361" r="0" b="22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10275"/>
            <a:ext cx="10287000" cy="37909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d61184ac34629"/>
          <a:stretch xmlns:a="http://schemas.openxmlformats.org/drawingml/2006/main"/>
        </p:blipFill>
        <p:spPr>
          <a:xfrm xmlns:a="http://schemas.openxmlformats.org/drawingml/2006/main">
            <a:off x="542925" y="100203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Copy">
            <a:extLst xmlns:a="http://schemas.openxmlformats.org/drawingml/2006/main">
              <a:ext uri="{FF2B5EF4-FFF2-40B4-BE49-F238E27FC236}">
                <a16:creationId xmlns:a16="http://schemas.microsoft.com/office/drawing/2014/main" id="{EBF41186-5158-4D08-8EDC-1713E22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1917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2132"/>
                </a:solidFill>
                <a:latin typeface="Arial"/>
                <a:ea typeface="Arial"/>
                <a:cs typeface="Arial"/>
              </a:rPr>
              <a:t>Демонстрационный магазин MARS</a:t>
            </a:r>
          </a:p>
        </p:txBody>
      </p:sp>
      <p:sp>
        <p:nvSpPr>
          <p:cNvPr id="8" name="Copy">
            <a:extLst xmlns:a="http://schemas.openxmlformats.org/drawingml/2006/main">
              <a:ext uri="{FF2B5EF4-FFF2-40B4-BE49-F238E27FC236}">
                <a16:creationId xmlns:a16="http://schemas.microsoft.com/office/drawing/2014/main" id="{FC2B796C-8184-4E62-BB07-D174C45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8775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6D5DF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D5DFC"/>
                </a:solidFill>
                <a:latin typeface="Arial"/>
                <a:ea typeface="Arial"/>
                <a:cs typeface="Arial"/>
                <a:hlinkClick xmlns:r="http://schemas.openxmlformats.org/officeDocument/2006/relationships" r:id="R4931c4761d9e48e2"/>
              </a:rPr>
              <a:t>korset.app/s/mars</a:t>
            </a:r>
          </a:p>
        </p:txBody>
      </p:sp>
      <p:sp>
        <p:nvSpPr>
          <p:cNvPr id="9" name="Copy">
            <a:extLst xmlns:a="http://schemas.openxmlformats.org/drawingml/2006/main">
              <a:ext uri="{FF2B5EF4-FFF2-40B4-BE49-F238E27FC236}">
                <a16:creationId xmlns:a16="http://schemas.microsoft.com/office/drawing/2014/main" id="{E84E6020-4DFC-4C44-9DD9-7C6C2B2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668125"/>
            <a:ext cx="638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Напишите представителю Körset,</a:t>
            </a:r>
          </a:p>
          <a:p xmlns:a="http://schemas.openxmlformats.org/drawingml/2006/main">
            <a:pPr algn="l">
              <a:defRPr sz="2550" b="0">
                <a:solidFill>
                  <a:srgbClr val="2421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2132"/>
                </a:solidFill>
                <a:latin typeface="Arial"/>
                <a:ea typeface="Arial"/>
                <a:cs typeface="Arial"/>
              </a:rPr>
              <a:t>который отправил презентацию.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1093036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2026-09-30T14:47:59.6500000Z</dcterms:created>
  <dcterms:modified xsi:type="dcterms:W3CDTF">2026-09-30T14:47:59.6500000Z</dcterms:modified>
</coreProperties>
</file>