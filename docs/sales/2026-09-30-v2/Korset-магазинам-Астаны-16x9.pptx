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e32caebfac44b4" /><Relationship Type="http://schemas.openxmlformats.org/officeDocument/2006/relationships/extended-properties" Target="/docProps/app.xml" Id="R5d9ce9a892194d45" /><Relationship Type="http://schemas.openxmlformats.org/officeDocument/2006/relationships/officeDocument" Target="/ppt/presentation.xml" Id="Rf30f09d5eb2d4f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55c12d5344602"/>
  </p:sldMasterIdLst>
  <p:notesMasterIdLst>
    <p:notesMasterId xmlns:r="http://schemas.openxmlformats.org/officeDocument/2006/relationships" r:id="R159056a34a2c4cbe"/>
  </p:notesMasterIdLst>
  <p:sldIdLst>
    <p:sldId xmlns:r="http://schemas.openxmlformats.org/officeDocument/2006/relationships" id="256" r:id="R97904717dfff46d7"/>
    <p:sldId xmlns:r="http://schemas.openxmlformats.org/officeDocument/2006/relationships" id="257" r:id="Rc81359a230734db0"/>
    <p:sldId xmlns:r="http://schemas.openxmlformats.org/officeDocument/2006/relationships" id="258" r:id="R933c59131cf040d4"/>
    <p:sldId xmlns:r="http://schemas.openxmlformats.org/officeDocument/2006/relationships" id="259" r:id="R036b7406e09e439e"/>
    <p:sldId xmlns:r="http://schemas.openxmlformats.org/officeDocument/2006/relationships" id="260" r:id="R75f65c07e84e4f3f"/>
    <p:sldId xmlns:r="http://schemas.openxmlformats.org/officeDocument/2006/relationships" id="261" r:id="R5f44282899024ac2"/>
    <p:sldId xmlns:r="http://schemas.openxmlformats.org/officeDocument/2006/relationships" id="262" r:id="R6ea9c5ab74c54fd2"/>
    <p:sldId xmlns:r="http://schemas.openxmlformats.org/officeDocument/2006/relationships" id="263" r:id="R3e0d1d401c5443cc"/>
    <p:sldId xmlns:r="http://schemas.openxmlformats.org/officeDocument/2006/relationships" id="264" r:id="Re33f0cc2a4944f6f"/>
    <p:sldId xmlns:r="http://schemas.openxmlformats.org/officeDocument/2006/relationships" id="265" r:id="Ra1c465f64d4c43ca"/>
    <p:sldId xmlns:r="http://schemas.openxmlformats.org/officeDocument/2006/relationships" id="266" r:id="R41532df47fb94037"/>
    <p:sldId xmlns:r="http://schemas.openxmlformats.org/officeDocument/2006/relationships" id="267" r:id="Rc77bb087cb0c4674"/>
    <p:sldId xmlns:r="http://schemas.openxmlformats.org/officeDocument/2006/relationships" id="268" r:id="R7f5407728a884baa"/>
    <p:sldId xmlns:r="http://schemas.openxmlformats.org/officeDocument/2006/relationships" id="269" r:id="R9e8a6043d5714a78"/>
    <p:sldId xmlns:r="http://schemas.openxmlformats.org/officeDocument/2006/relationships" id="270" r:id="R5c737c1a8e464d4a"/>
    <p:sldId xmlns:r="http://schemas.openxmlformats.org/officeDocument/2006/relationships" id="271" r:id="R833737d93107413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ad4f703dc64170" /><Relationship Type="http://schemas.openxmlformats.org/officeDocument/2006/relationships/slideMaster" Target="/ppt/slideMasters/slideMaster1.xml" Id="R95c55c12d5344602" /><Relationship Type="http://schemas.openxmlformats.org/officeDocument/2006/relationships/notesMaster" Target="/ppt/notesMasters/notesMaster1.xml" Id="R159056a34a2c4cbe" /><Relationship Type="http://schemas.openxmlformats.org/officeDocument/2006/relationships/presProps" Target="/ppt/presProps.xml" Id="R4c66a3e85c724a33" /><Relationship Type="http://schemas.openxmlformats.org/officeDocument/2006/relationships/tableStyles" Target="/ppt/tableStyles.xml" Id="Ra8623e3ee8d74fec" /><Relationship Type="http://schemas.openxmlformats.org/officeDocument/2006/relationships/slide" Target="/ppt/slides/slide1.xml" Id="R97904717dfff46d7" /><Relationship Type="http://schemas.openxmlformats.org/officeDocument/2006/relationships/slide" Target="/ppt/slides/slide2.xml" Id="Rc81359a230734db0" /><Relationship Type="http://schemas.openxmlformats.org/officeDocument/2006/relationships/slide" Target="/ppt/slides/slide3.xml" Id="R933c59131cf040d4" /><Relationship Type="http://schemas.openxmlformats.org/officeDocument/2006/relationships/slide" Target="/ppt/slides/slide4.xml" Id="R036b7406e09e439e" /><Relationship Type="http://schemas.openxmlformats.org/officeDocument/2006/relationships/slide" Target="/ppt/slides/slide5.xml" Id="R75f65c07e84e4f3f" /><Relationship Type="http://schemas.openxmlformats.org/officeDocument/2006/relationships/slide" Target="/ppt/slides/slide6.xml" Id="R5f44282899024ac2" /><Relationship Type="http://schemas.openxmlformats.org/officeDocument/2006/relationships/slide" Target="/ppt/slides/slide7.xml" Id="R6ea9c5ab74c54fd2" /><Relationship Type="http://schemas.openxmlformats.org/officeDocument/2006/relationships/slide" Target="/ppt/slides/slide8.xml" Id="R3e0d1d401c5443cc" /><Relationship Type="http://schemas.openxmlformats.org/officeDocument/2006/relationships/slide" Target="/ppt/slides/slide9.xml" Id="Re33f0cc2a4944f6f" /><Relationship Type="http://schemas.openxmlformats.org/officeDocument/2006/relationships/slide" Target="/ppt/slides/slide10.xml" Id="Ra1c465f64d4c43ca" /><Relationship Type="http://schemas.openxmlformats.org/officeDocument/2006/relationships/slide" Target="/ppt/slides/slide11.xml" Id="R41532df47fb94037" /><Relationship Type="http://schemas.openxmlformats.org/officeDocument/2006/relationships/slide" Target="/ppt/slides/slide12.xml" Id="Rc77bb087cb0c4674" /><Relationship Type="http://schemas.openxmlformats.org/officeDocument/2006/relationships/slide" Target="/ppt/slides/slide13.xml" Id="R7f5407728a884baa" /><Relationship Type="http://schemas.openxmlformats.org/officeDocument/2006/relationships/slide" Target="/ppt/slides/slide14.xml" Id="R9e8a6043d5714a78" /><Relationship Type="http://schemas.openxmlformats.org/officeDocument/2006/relationships/slide" Target="/ppt/slides/slide15.xml" Id="R5c737c1a8e464d4a" /><Relationship Type="http://schemas.openxmlformats.org/officeDocument/2006/relationships/slide" Target="/ppt/slides/slide16.xml" Id="R833737d9310741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61f8e7b4f40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7818" dir="4557825">
              <a:srgbClr val="1D172C">
                <a:alpha val="15000"/>
              </a:srgbClr>
            </a:outerShdw>
          </a:effectLst>
        </a:effectStyle>
        <a:effectStyle>
          <a:effectLst>
            <a:outerShdw blurRad="228600" dist="76200" dir="5400000">
              <a:srgbClr val="1D172C">
                <a:alpha val="9000"/>
              </a:srgbClr>
            </a:outerShdw>
          </a:effectLst>
        </a:effectStyle>
        <a:effectStyle>
          <a:effectLst>
            <a:outerShdw blurRad="285750" dist="95250" dir="5400000">
              <a:srgbClr val="1D172C">
                <a:alpha val="12000"/>
              </a:srgbClr>
            </a:outerShdw>
          </a:effectLst>
        </a:effectStyle>
        <a:effectStyle>
          <a:effectLst>
            <a:outerShdw blurRad="219075" dist="76200" dir="5400000">
              <a:srgbClr val="1D172C">
                <a:alpha val="10000"/>
              </a:srgbClr>
            </a:outerShdw>
          </a:effectLst>
        </a:effectStyle>
        <a:effectStyle>
          <a:effectLst>
            <a:outerShdw blurRad="142875" dist="38100" dir="5400000">
              <a:srgbClr val="1D172C">
                <a:alpha val="8000"/>
              </a:srgbClr>
            </a:outerShdw>
          </a:effectLst>
        </a:effectStyle>
        <a:effectStyle>
          <a:effectLst>
            <a:outerShdw blurRad="238125" dist="114300" dir="5400000">
              <a:srgbClr val="673DE6">
                <a:alpha val="24000"/>
              </a:srgbClr>
            </a:outerShdw>
          </a:effectLst>
        </a:effectStyle>
        <a:effectStyle>
          <a:effectLst>
            <a:outerShdw blurRad="304800" dist="114300" dir="5400000">
              <a:srgbClr val="1D172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86ce88ec5a4740" /><Relationship Type="http://schemas.openxmlformats.org/officeDocument/2006/relationships/notesMaster" Target="/ppt/notesMasters/notesMaster1.xml" Id="R9b74a38f5680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1c4a1232049fd" /><Relationship Type="http://schemas.openxmlformats.org/officeDocument/2006/relationships/notesMaster" Target="/ppt/notesMasters/notesMaster1.xml" Id="R42e5933ff5e44e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eeffe6f1834a61" /><Relationship Type="http://schemas.openxmlformats.org/officeDocument/2006/relationships/notesMaster" Target="/ppt/notesMasters/notesMaster1.xml" Id="Rbb886b9fb844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8a5a24a8084d6b" /><Relationship Type="http://schemas.openxmlformats.org/officeDocument/2006/relationships/notesMaster" Target="/ppt/notesMasters/notesMaster1.xml" Id="R89cdfddb7431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e5461113e43e9" /><Relationship Type="http://schemas.openxmlformats.org/officeDocument/2006/relationships/notesMaster" Target="/ppt/notesMasters/notesMaster1.xml" Id="Rfe22bb12ff0a41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5d1fca7e804a12" /><Relationship Type="http://schemas.openxmlformats.org/officeDocument/2006/relationships/notesMaster" Target="/ppt/notesMasters/notesMaster1.xml" Id="R51c19fa2826149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9dbfc4bce445dd" /><Relationship Type="http://schemas.openxmlformats.org/officeDocument/2006/relationships/notesMaster" Target="/ppt/notesMasters/notesMaster1.xml" Id="R6175e77193b244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8920c320264727" /><Relationship Type="http://schemas.openxmlformats.org/officeDocument/2006/relationships/notesMaster" Target="/ppt/notesMasters/notesMaster1.xml" Id="R54d0a8f0ff6142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bc73eab4b6486a" /><Relationship Type="http://schemas.openxmlformats.org/officeDocument/2006/relationships/notesMaster" Target="/ppt/notesMasters/notesMaster1.xml" Id="Rcba205e15c0543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af02b27f06425d" /><Relationship Type="http://schemas.openxmlformats.org/officeDocument/2006/relationships/notesMaster" Target="/ppt/notesMasters/notesMaster1.xml" Id="Rb96057a6b19247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33172d6b214b8e" /><Relationship Type="http://schemas.openxmlformats.org/officeDocument/2006/relationships/notesMaster" Target="/ppt/notesMasters/notesMaster1.xml" Id="Rfc3ac753ee6343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b658fcbf194788" /><Relationship Type="http://schemas.openxmlformats.org/officeDocument/2006/relationships/notesMaster" Target="/ppt/notesMasters/notesMaster1.xml" Id="R04cba8fb21ac49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a5df1b740e44e5" /><Relationship Type="http://schemas.openxmlformats.org/officeDocument/2006/relationships/notesMaster" Target="/ppt/notesMasters/notesMaster1.xml" Id="Rc97dfa0aa73f4e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1595148d6347d1" /><Relationship Type="http://schemas.openxmlformats.org/officeDocument/2006/relationships/notesMaster" Target="/ppt/notesMasters/notesMaster1.xml" Id="R4c7d82ffa5e445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57ccbb03654ed2" /><Relationship Type="http://schemas.openxmlformats.org/officeDocument/2006/relationships/notesMaster" Target="/ppt/notesMasters/notesMaster1.xml" Id="Rd43bc9379c1e40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e4539811db4b74" /><Relationship Type="http://schemas.openxmlformats.org/officeDocument/2006/relationships/notesMaster" Target="/ppt/notesMasters/notesMaster1.xml" Id="R01c5830b82ec48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для продуктовых магазинов Астаны. Условия: docs/vault/decisions/2026-09-30-b2b-sales-and-onboarding.md. Визуальный характер вдохновлён предоставленным korset_med.pdf, без переноса инвестиционных утверждений и функций AR. Иллюстрация магазина — художественная сцена, не действующий клиент.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Проблемные ситуации описывают возможные барьеры выбора, не измеренную статистику клиентов Körset. Источники сценариев: каталог, сравнение, помощник и кабинет магазина в коде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Механизмы возможной коммерческой пользы, не подтверждённый рост продаж: наличие информации, рекомендации, цифровая витрина, помощь персоналу. docs/vault/plans/2026-09-30-b2b-sales-deck-research.md; src/screens/RetailProductsScreen.jsx; src/utils/shoppingRecommendations.js.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Актуальные экраны главной и каталога сняты 30.09.2026 с публичной MARS-витрины без изменения товаров и данных магазина. MARS используется как пример интерфейса. Числа в снимках экрана не являются доказательством каталога конкретной реальной точки.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экран настроек снят 30.09.2026. Учёт предпочтений зависит от сведений о товаре; это не медицинская проверка безопасности. Источники: src/utils/fitCheck.js, src/screens/ProductScreen.jsx, интерфейс пищевых предпочтений.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стартовый экран помощника снят 30.09.2026 без отправки запросов. Доступные сценарии интерфейса: поиск, бюджет, состав, список. Пример наполнения списка иллюстрирует возможный механизм дополнительной покупки, не результат магазина. Источники: src/screens/ShoppingListScreen.jsx, src/screens/ProductScreen.jsx, src/domain/product/comparison.js.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Концепт оформления кабинета по существующим метрикам: сканирования, позиции каталога, неизвестные штрихкоды и популярные товары. Цифры и диаграмма — явно обозначенный иллюстративный пример, не статистика клиента. Недельная динамика — визуальная концепция отчёта. src/screens/RetailDashboardScreen.jsx; src/locales/ru/retail.json. Пример: 180+256+352+460=1248 сканирований.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Возможности управления из src/screens/RetailProductsScreen.jsx и src/locales/ru/retail.json: цена, наличие, закрепление в хитах, старая цена/скидка, рекомендация к списку. Панель — визуальный макет с примером товара и цены, не снимок действующего кабинета.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Расчётный сценарий, не прогноз продаж Körset. Подписка 15000 ₸/месяц. Дополнительная валовая прибыль с покупки 150, 300 или 500 ₸; требуются 100, 50 или 30 дополнительных покупок за месяц. В примере 30 календарных дней. Валовая прибыль = выручка минус закупочная стоимость. Печать, установка, налоги и прочие расходы не включены. Фактическую маржу и дополнительные продажи определяет магазин.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целевого автоматического обмена цен, названий и наличия. Готовый коннектор 1С не подтверждён. Версию и конфигурацию системы учёта необходимо проверять для конкретной точки. Не следует использовать схему как доказательство уже выполненного подключения. Название 1С обозначает возможную учётную систему, не логотип партнёра.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владельца: Instagram и TikTok для продвижения Körset и магазинов, совместные съёмки по согласованию, название/адрес партнёра и демонстрация продукта. Каналы и кампании не подтверждены как уже запущенные; охваты и поток покупателей не гарантированы. CGI-иллюстрация камеры не показывает реальную съёмку.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Гипотеза развития пользы: размещение QR, первое использование, повторное использование и данные для владельца. Нет обещанного числа пользователей, сроков или роста продаж. Будущие Pro и Enterprise пока планы: расширенные возможности, совместное продвижение и адаптация под магазин по отдельному соглашению. Это не действующие тарифы.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Личное подключение по согласованным условиям. Техническое подключение бесплатно на старте. Печать и установка от 5000 ₸ разово, точная смета зависит от количества, формата, места размещения, держателей и креплений. Изображение — вариант оформления материалов в условном магазине, не фотография клиента. QR ведёт на https://korset.app/s/mars/.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Условия владельца: 15000 ₸ в месяц за одну точку, текущие функции включены. Скидки в рабочем предложении 5 / 10 / 15% за 3 / 6 / 12 месяцев. Расчёты: 15000*3*0.95=42750; 15000*6*0.9=81000; 15000*12*0.85=153000. Месячные эквиваленты 14250, 13500, 12750 ₸. Экономия годового срока 27000 ₸. Предоплата за весь срок, материалы отдельно. Цена и согласованные функции защищены на оплаченный срок.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Владелец подтвердил связь в WhatsApp до 00:00. Начало часов связи не названо. Обычно ответ в течение часа; исправление 1–2 дня в зависимости от сложности — ориентир, не безусловное SLA. Основатель не выдаётся за команду несуществующих сотрудников. Возврат неиспользованного периода по оплаченной ставке; изготовленные материалы остаются у магазина. Детали расчётов и договора согласуются до оплаты.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обсудить подключение конкретной точки: учётную систему, каталог и QR-материалы. MARS — пример витрины, не подтверждённый платящий клиент. QR и ссылка ведут на https://korset.app/s/mars/. Контактный номер для холодных продаж владелец планирует после отдельной SIM-карты; используйте ответ отправившему представителю.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937c80ab0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51afe7db14d03" /><Relationship Type="http://schemas.openxmlformats.org/officeDocument/2006/relationships/slideLayout" Target="/ppt/slideLayouts/slideLayout1.xml" Id="R57e33556a10748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33556a10748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7818" dir="4557825">
              <a:srgbClr val="1D172C">
                <a:alpha val="15000"/>
              </a:srgbClr>
            </a:outerShdw>
          </a:effectLst>
        </a:effectStyle>
        <a:effectStyle>
          <a:effectLst>
            <a:outerShdw blurRad="228600" dist="76200" dir="5400000">
              <a:srgbClr val="1D172C">
                <a:alpha val="9000"/>
              </a:srgbClr>
            </a:outerShdw>
          </a:effectLst>
        </a:effectStyle>
        <a:effectStyle>
          <a:effectLst>
            <a:outerShdw blurRad="285750" dist="95250" dir="5400000">
              <a:srgbClr val="1D172C">
                <a:alpha val="12000"/>
              </a:srgbClr>
            </a:outerShdw>
          </a:effectLst>
        </a:effectStyle>
        <a:effectStyle>
          <a:effectLst>
            <a:outerShdw blurRad="219075" dist="76200" dir="5400000">
              <a:srgbClr val="1D172C">
                <a:alpha val="10000"/>
              </a:srgbClr>
            </a:outerShdw>
          </a:effectLst>
        </a:effectStyle>
        <a:effectStyle>
          <a:effectLst>
            <a:outerShdw blurRad="142875" dist="38100" dir="5400000">
              <a:srgbClr val="1D172C">
                <a:alpha val="8000"/>
              </a:srgbClr>
            </a:outerShdw>
          </a:effectLst>
        </a:effectStyle>
        <a:effectStyle>
          <a:effectLst>
            <a:outerShdw blurRad="238125" dist="114300" dir="5400000">
              <a:srgbClr val="673DE6">
                <a:alpha val="24000"/>
              </a:srgbClr>
            </a:outerShdw>
          </a:effectLst>
        </a:effectStyle>
        <a:effectStyle>
          <a:effectLst>
            <a:outerShdw blurRad="304800" dist="114300" dir="5400000">
              <a:srgbClr val="1D172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f2d5ad15649b2" /><Relationship Type="http://schemas.openxmlformats.org/officeDocument/2006/relationships/image" Target="/ppt/media/image.png" Id="Rd2b7894e95d14645" /><Relationship Type="http://schemas.openxmlformats.org/officeDocument/2006/relationships/image" Target="/ppt/media/image2.png" Id="R735d830f433f42d6" /><Relationship Type="http://schemas.openxmlformats.org/officeDocument/2006/relationships/image" Target="/ppt/media/image3.png" Id="R9bb218a4f1ac4e54" /><Relationship Type="http://schemas.openxmlformats.org/officeDocument/2006/relationships/notesSlide" Target="/ppt/notesSlides/notesSlide1.xml" Id="R170ca24c8e9e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5fdae8964607" /><Relationship Type="http://schemas.openxmlformats.org/officeDocument/2006/relationships/image" Target="/ppt/media/image4.png" Id="Rf5c12ede92674438" /><Relationship Type="http://schemas.openxmlformats.org/officeDocument/2006/relationships/image" Target="/ppt/media/image5.png" Id="Ref9e8cbcf6f14772" /><Relationship Type="http://schemas.openxmlformats.org/officeDocument/2006/relationships/image" Target="/ppt/media/image6.png" Id="R3b3b3152f2804013" /><Relationship Type="http://schemas.openxmlformats.org/officeDocument/2006/relationships/image" Target="/ppt/media/image7.png" Id="R8d84c954cdd148bb" /><Relationship Type="http://schemas.openxmlformats.org/officeDocument/2006/relationships/image" Target="/ppt/media/image8.png" Id="Re0225f7ba03c4e37" /><Relationship Type="http://schemas.openxmlformats.org/officeDocument/2006/relationships/notesSlide" Target="/ppt/notesSlides/notesSlide2.xml" Id="R970611cded40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3eaa01d946eb" /><Relationship Type="http://schemas.openxmlformats.org/officeDocument/2006/relationships/image" Target="/ppt/media/image9.png" Id="R5d4619f4016d470c" /><Relationship Type="http://schemas.openxmlformats.org/officeDocument/2006/relationships/image" Target="/ppt/media/image10.png" Id="Rafd1b2aa93ff49f4" /><Relationship Type="http://schemas.openxmlformats.org/officeDocument/2006/relationships/image" Target="/ppt/media/image11.png" Id="R2c17a9359e9b40f2" /><Relationship Type="http://schemas.openxmlformats.org/officeDocument/2006/relationships/image" Target="/ppt/media/image12.png" Id="R3c6e08ecfb3d4ac3" /><Relationship Type="http://schemas.openxmlformats.org/officeDocument/2006/relationships/image" Target="/ppt/media/image13.png" Id="R36e5e93b8f3145d7" /><Relationship Type="http://schemas.openxmlformats.org/officeDocument/2006/relationships/image" Target="/ppt/media/image14.png" Id="R2ac8170fa7df4243" /><Relationship Type="http://schemas.openxmlformats.org/officeDocument/2006/relationships/notesSlide" Target="/ppt/notesSlides/notesSlide3.xml" Id="Ref1b4f6ae15b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03ecf10d84db0" /><Relationship Type="http://schemas.openxmlformats.org/officeDocument/2006/relationships/image" Target="/ppt/media/image15.png" Id="R2f25f3561dee479c" /><Relationship Type="http://schemas.openxmlformats.org/officeDocument/2006/relationships/image" Target="/ppt/media/image.jpeg" Id="R0050822f6ecf43ea" /><Relationship Type="http://schemas.openxmlformats.org/officeDocument/2006/relationships/image" Target="/ppt/media/image2.jpeg" Id="R8c99effc2e2b4976" /><Relationship Type="http://schemas.openxmlformats.org/officeDocument/2006/relationships/image" Target="/ppt/media/image16.png" Id="R60d2fee04dad4fd0" /><Relationship Type="http://schemas.openxmlformats.org/officeDocument/2006/relationships/image" Target="/ppt/media/image17.png" Id="R01ba1e9f145b49d6" /><Relationship Type="http://schemas.openxmlformats.org/officeDocument/2006/relationships/image" Target="/ppt/media/image18.png" Id="R026dfd5d983942b7" /><Relationship Type="http://schemas.openxmlformats.org/officeDocument/2006/relationships/notesSlide" Target="/ppt/notesSlides/notesSlide4.xml" Id="R7466879520a04c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341a5ed854520" /><Relationship Type="http://schemas.openxmlformats.org/officeDocument/2006/relationships/image" Target="/ppt/media/image19.png" Id="Rff7cd4cfe40e4eeb" /><Relationship Type="http://schemas.openxmlformats.org/officeDocument/2006/relationships/image" Target="/ppt/media/image3.jpeg" Id="R30ccad3ddbf64523" /><Relationship Type="http://schemas.openxmlformats.org/officeDocument/2006/relationships/image" Target="/ppt/media/image20.png" Id="R227c7add591e471f" /><Relationship Type="http://schemas.openxmlformats.org/officeDocument/2006/relationships/image" Target="/ppt/media/image21.png" Id="Rb893f93d44764072" /><Relationship Type="http://schemas.openxmlformats.org/officeDocument/2006/relationships/image" Target="/ppt/media/image22.png" Id="Rba8b894b4e4f45ec" /><Relationship Type="http://schemas.openxmlformats.org/officeDocument/2006/relationships/notesSlide" Target="/ppt/notesSlides/notesSlide5.xml" Id="Re481a5c43173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570cc8451456f" /><Relationship Type="http://schemas.openxmlformats.org/officeDocument/2006/relationships/image" Target="/ppt/media/image23.png" Id="Ref080a7523d445f0" /><Relationship Type="http://schemas.openxmlformats.org/officeDocument/2006/relationships/image" Target="/ppt/media/image4.jpeg" Id="Rb82be6d9721f4810" /><Relationship Type="http://schemas.openxmlformats.org/officeDocument/2006/relationships/image" Target="/ppt/media/image24.png" Id="R8a819c0a60674088" /><Relationship Type="http://schemas.openxmlformats.org/officeDocument/2006/relationships/image" Target="/ppt/media/image25.png" Id="Rf8b5639f07734e7d" /><Relationship Type="http://schemas.openxmlformats.org/officeDocument/2006/relationships/image" Target="/ppt/media/image26.png" Id="Rd178bf01a8bc4184" /><Relationship Type="http://schemas.openxmlformats.org/officeDocument/2006/relationships/notesSlide" Target="/ppt/notesSlides/notesSlide6.xml" Id="R37122591f1f3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1e77ccd04281" /><Relationship Type="http://schemas.openxmlformats.org/officeDocument/2006/relationships/image" Target="/ppt/media/image27.png" Id="R6e59cf9f432c4b80" /><Relationship Type="http://schemas.openxmlformats.org/officeDocument/2006/relationships/image" Target="/ppt/media/image28.png" Id="R2de6761edb854450" /><Relationship Type="http://schemas.openxmlformats.org/officeDocument/2006/relationships/chart" Target="/ppt/slides/charts/chart1.xml" Id="R73d4ef636fde47ed" /><Relationship Type="http://schemas.openxmlformats.org/officeDocument/2006/relationships/notesSlide" Target="/ppt/notesSlides/notesSlide7.xml" Id="R656f099a856c48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73658e7ed477d" /><Relationship Type="http://schemas.openxmlformats.org/officeDocument/2006/relationships/image" Target="/ppt/media/image29.png" Id="R5e0ce09af5384012" /><Relationship Type="http://schemas.openxmlformats.org/officeDocument/2006/relationships/image" Target="/ppt/media/image30.png" Id="R8516948c86414621" /><Relationship Type="http://schemas.openxmlformats.org/officeDocument/2006/relationships/image" Target="/ppt/media/image31.png" Id="Rab4f47c6ca79402d" /><Relationship Type="http://schemas.openxmlformats.org/officeDocument/2006/relationships/image" Target="/ppt/media/image32.png" Id="R416044f27d604b8e" /><Relationship Type="http://schemas.openxmlformats.org/officeDocument/2006/relationships/image" Target="/ppt/media/image33.png" Id="R04bc5b01d3f54c39" /><Relationship Type="http://schemas.openxmlformats.org/officeDocument/2006/relationships/notesSlide" Target="/ppt/notesSlides/notesSlide8.xml" Id="Rc33f20409faa4c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88c938be041ea" /><Relationship Type="http://schemas.openxmlformats.org/officeDocument/2006/relationships/image" Target="/ppt/media/image34.png" Id="R1bdc9434405f4806" /><Relationship Type="http://schemas.openxmlformats.org/officeDocument/2006/relationships/image" Target="/ppt/media/image35.png" Id="Rd48a5e131c3c41dd" /><Relationship Type="http://schemas.openxmlformats.org/officeDocument/2006/relationships/chart" Target="/ppt/slides/charts/chart2.xml" Id="R076d68bdadbc496f" /><Relationship Type="http://schemas.openxmlformats.org/officeDocument/2006/relationships/notesSlide" Target="/ppt/notesSlides/notesSlide9.xml" Id="R1423a8b4aba544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cd9954fcd48b3" /><Relationship Type="http://schemas.openxmlformats.org/officeDocument/2006/relationships/image" Target="/ppt/media/image36.png" Id="Reae5ece1f9f1431c" /><Relationship Type="http://schemas.openxmlformats.org/officeDocument/2006/relationships/image" Target="/ppt/media/image37.png" Id="Rd590547cc00a49cf" /><Relationship Type="http://schemas.openxmlformats.org/officeDocument/2006/relationships/image" Target="/ppt/media/image38.png" Id="R71d1df7eaa6a4d6a" /><Relationship Type="http://schemas.openxmlformats.org/officeDocument/2006/relationships/image" Target="/ppt/media/image39.png" Id="Rb61f4fefd0114640" /><Relationship Type="http://schemas.openxmlformats.org/officeDocument/2006/relationships/image" Target="/ppt/media/image40.png" Id="R395c2aff45ce4dae" /><Relationship Type="http://schemas.openxmlformats.org/officeDocument/2006/relationships/notesSlide" Target="/ppt/notesSlides/notesSlide10.xml" Id="R1e2bbb7459934e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94488cd3147e2" /><Relationship Type="http://schemas.openxmlformats.org/officeDocument/2006/relationships/image" Target="/ppt/media/image41.png" Id="Rca17e475b8cc4317" /><Relationship Type="http://schemas.openxmlformats.org/officeDocument/2006/relationships/image" Target="/ppt/media/image42.png" Id="Rf82b3298d9104124" /><Relationship Type="http://schemas.openxmlformats.org/officeDocument/2006/relationships/image" Target="/ppt/media/image43.png" Id="R238b05c65b5e44e7" /><Relationship Type="http://schemas.openxmlformats.org/officeDocument/2006/relationships/notesSlide" Target="/ppt/notesSlides/notesSlide11.xml" Id="Rc4f1d0bfb96c47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0b9595b954b37" /><Relationship Type="http://schemas.openxmlformats.org/officeDocument/2006/relationships/image" Target="/ppt/media/image44.png" Id="R64d7d082e71f48d7" /><Relationship Type="http://schemas.openxmlformats.org/officeDocument/2006/relationships/image" Target="/ppt/media/image45.png" Id="R847c5c9a8e5448eb" /><Relationship Type="http://schemas.openxmlformats.org/officeDocument/2006/relationships/image" Target="/ppt/media/image46.png" Id="R8cb565871f6548a9" /><Relationship Type="http://schemas.openxmlformats.org/officeDocument/2006/relationships/image" Target="/ppt/media/image47.png" Id="R6783009865fa4445" /><Relationship Type="http://schemas.openxmlformats.org/officeDocument/2006/relationships/image" Target="/ppt/media/image48.png" Id="R705703f0df29437f" /><Relationship Type="http://schemas.openxmlformats.org/officeDocument/2006/relationships/image" Target="/ppt/media/image49.png" Id="R0517eab58c744084" /><Relationship Type="http://schemas.openxmlformats.org/officeDocument/2006/relationships/notesSlide" Target="/ppt/notesSlides/notesSlide12.xml" Id="Rbac3d8dc7eb446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712ee890c4c41" /><Relationship Type="http://schemas.openxmlformats.org/officeDocument/2006/relationships/image" Target="/ppt/media/image50.png" Id="R12f665b029e54a8a" /><Relationship Type="http://schemas.openxmlformats.org/officeDocument/2006/relationships/image" Target="/ppt/media/image51.png" Id="R99e21a0e8d654e11" /><Relationship Type="http://schemas.openxmlformats.org/officeDocument/2006/relationships/image" Target="/ppt/media/image52.png" Id="R91ca7b60c7b540d1" /><Relationship Type="http://schemas.openxmlformats.org/officeDocument/2006/relationships/image" Target="/ppt/media/image53.png" Id="R528324530e764447" /><Relationship Type="http://schemas.openxmlformats.org/officeDocument/2006/relationships/image" Target="/ppt/media/image54.png" Id="R66a1288f69a44701" /><Relationship Type="http://schemas.openxmlformats.org/officeDocument/2006/relationships/image" Target="/ppt/media/image55.png" Id="Rba3132bd8eb44d7d" /><Relationship Type="http://schemas.openxmlformats.org/officeDocument/2006/relationships/image" Target="/ppt/media/image56.png" Id="R552fdf63e4914307" /><Relationship Type="http://schemas.openxmlformats.org/officeDocument/2006/relationships/notesSlide" Target="/ppt/notesSlides/notesSlide13.xml" Id="Rb17272980de043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e68f34db3486f" /><Relationship Type="http://schemas.openxmlformats.org/officeDocument/2006/relationships/image" Target="/ppt/media/image57.png" Id="Rbe91139d242b4494" /><Relationship Type="http://schemas.openxmlformats.org/officeDocument/2006/relationships/image" Target="/ppt/media/image58.png" Id="R56aef0ab91634882" /><Relationship Type="http://schemas.openxmlformats.org/officeDocument/2006/relationships/notesSlide" Target="/ppt/notesSlides/notesSlide14.xml" Id="R33c06250c6e54d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1e5d644e14d23" /><Relationship Type="http://schemas.openxmlformats.org/officeDocument/2006/relationships/image" Target="/ppt/media/image59.png" Id="R439326cb9322427a" /><Relationship Type="http://schemas.openxmlformats.org/officeDocument/2006/relationships/image" Target="/ppt/media/image60.png" Id="R10aaecdd8c08442e" /><Relationship Type="http://schemas.openxmlformats.org/officeDocument/2006/relationships/image" Target="/ppt/media/image61.png" Id="Rbce597d663054662" /><Relationship Type="http://schemas.openxmlformats.org/officeDocument/2006/relationships/image" Target="/ppt/media/image62.png" Id="R2cbb0d7a51d64208" /><Relationship Type="http://schemas.openxmlformats.org/officeDocument/2006/relationships/image" Target="/ppt/media/image63.png" Id="R89c5504bfdb84d46" /><Relationship Type="http://schemas.openxmlformats.org/officeDocument/2006/relationships/notesSlide" Target="/ppt/notesSlides/notesSlide15.xml" Id="Rec699957ab6b49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e2d080df64a71" /><Relationship Type="http://schemas.openxmlformats.org/officeDocument/2006/relationships/image" Target="/ppt/media/image64.png" Id="Ra6834d481d0341e6" /><Relationship Type="http://schemas.openxmlformats.org/officeDocument/2006/relationships/image" Target="/ppt/media/image65.png" Id="Rac7306339f1249e4" /><Relationship Type="http://schemas.openxmlformats.org/officeDocument/2006/relationships/image" Target="/ppt/media/image66.png" Id="R62bb69c5dd8842e9" /><Relationship Type="http://schemas.openxmlformats.org/officeDocument/2006/relationships/hyperlink" Target="https://korset.app/s/mars/" TargetMode="External" Id="Rc8bf3af4408e4117" /><Relationship Type="http://schemas.openxmlformats.org/officeDocument/2006/relationships/notesSlide" Target="/ppt/notesSlides/notesSlide16.xml" Id="Rc2b91df928bc4d0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Сканирования по неделям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D172C"/>
              </a:solidFill>
              <a:latin typeface="Segoe UI"/>
              <a:ea typeface="Segoe UI"/>
              <a:cs typeface="Segoe U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Сканирования</c:v>
          </c:tx>
          <c:spPr>
            <a:solidFill xmlns:a="http://schemas.openxmlformats.org/drawingml/2006/main">
              <a:srgbClr val="673DE6"/>
            </a:solidFill>
          </c:spPr>
          <c:cat>
            <c:strRef>
              <c:f>'Chart Data'!$A$2:$A$5</c:f>
              <c:strCache>
                <c:ptCount val="4"/>
                <c:pt idx="0">
                  <c:v>1-я</c:v>
                </c:pt>
                <c:pt idx="1">
                  <c:v>2-я</c:v>
                </c:pt>
                <c:pt idx="2">
                  <c:v>3-я</c:v>
                </c:pt>
                <c:pt idx="3">
                  <c:v>4-я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180</c:v>
                </c:pt>
                <c:pt idx="1">
                  <c:v>256</c:v>
                </c:pt>
                <c:pt idx="2">
                  <c:v>352</c:v>
                </c:pt>
                <c:pt idx="3">
                  <c:v>460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D172C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BD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D3E7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2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EFDFF"/>
                </a:solidFill>
                <a:latin typeface="Segoe UI"/>
                <a:ea typeface="Segoe UI"/>
                <a:cs typeface="Segoe UI"/>
              </a:rPr>
              <a:t>Дополнительные покупки за месяц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FEFDFF"/>
              </a:solidFill>
              <a:latin typeface="Segoe UI"/>
              <a:ea typeface="Segoe UI"/>
              <a:cs typeface="Segoe U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Покупки для покрытия подписки</c:v>
          </c:tx>
          <c:spPr>
            <a:solidFill xmlns:a="http://schemas.openxmlformats.org/drawingml/2006/main">
              <a:srgbClr val="673DE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3AFF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570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73DE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150 ₸</c:v>
                </c:pt>
                <c:pt idx="1">
                  <c:v>300 ₸</c:v>
                </c:pt>
                <c:pt idx="2">
                  <c:v>500 ₸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100</c:v>
                </c:pt>
                <c:pt idx="1">
                  <c:v>50</c:v>
                </c:pt>
                <c:pt idx="2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EFDFF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E9E0FA"/>
                    </a:solidFill>
                    <a:latin typeface="Segoe UI"/>
                    <a:ea typeface="Segoe UI"/>
                    <a:cs typeface="Segoe UI"/>
                  </a:rPr>
                  <a:t>Валовая прибыль с одной покупки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E9E0FA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5456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F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221A32"/>
        </a:solidFill>
      </c:spPr>
    </c:plotArea>
    <c:plotVisOnly val="1"/>
  </c:chart>
  <c:spPr>
    <a:solidFill xmlns:a="http://schemas.openxmlformats.org/drawingml/2006/main">
      <a:srgbClr val="221A3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7894e95d14645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A7C2638-48BB-420A-B470-EF437143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d830f433f42d6"/>
          <a:stretch xmlns:a="http://schemas.openxmlformats.org/drawingml/2006/main"/>
        </p:blipFill>
        <p:spPr>
          <a:xfrm xmlns:a="http://schemas.openxmlformats.org/drawingml/2006/main">
            <a:off x="3095625" y="1104900"/>
            <a:ext cx="10858500" cy="7239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218a4f1ac4e54"/>
          <a:stretch xmlns:a="http://schemas.openxmlformats.org/drawingml/2006/main"/>
        </p:blipFill>
        <p:spPr>
          <a:xfrm xmlns:a="http://schemas.openxmlformats.org/drawingml/2006/main">
            <a:off x="12164752" y="4343400"/>
            <a:ext cx="635520" cy="733425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E5BD99-B5B9-4D5D-9E5D-422F117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Для продуктовых магазинов Астаны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8089442-AB2F-46E6-BFDF-8CBD070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143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Покупатель</a:t>
            </a:r>
          </a:p>
          <a:p xmlns:a="http://schemas.openxmlformats.org/drawingml/2006/main">
            <a:pPr algn="l">
              <a:def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выбирает.</a:t>
            </a:r>
          </a:p>
          <a:p xmlns:a="http://schemas.openxmlformats.org/drawingml/2006/main">
            <a:pPr algn="l">
              <a:def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Ваш магазин</a:t>
            </a:r>
          </a:p>
          <a:p xmlns:a="http://schemas.openxmlformats.org/drawingml/2006/main">
            <a:pPr algn="l">
              <a:def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6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продаёт.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11A112-633F-49E7-BFEE-AEE431D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9610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Цифровая витрина, помощь у полки</a:t>
            </a:r>
          </a:p>
          <a:p xmlns:a="http://schemas.openxmlformats.org/drawingml/2006/main">
            <a:pPr algn="l">
              <a:defRPr sz="22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и кабинет магазина в одном сервисе.</a:t>
            </a:r>
          </a:p>
        </p:txBody>
      </p:sp>
    </p:spTree>
    <p:extLst>
      <p:ext uri="{BB962C8B-B14F-4D97-AF65-F5344CB8AC3E}">
        <p14:creationId xmlns:p14="http://schemas.microsoft.com/office/powerpoint/2010/main" val="206090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12ede92674438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69AA441-4874-427D-9ECD-91D06CE6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026068-39BF-4316-9F3E-9A2F8E39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381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Где магазин теряет покупку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e8cbcf6f14772"/>
          <a:stretch xmlns:a="http://schemas.openxmlformats.org/drawingml/2006/main"/>
        </p:blipFill>
        <p:spPr>
          <a:xfrm xmlns:a="http://schemas.openxmlformats.org/drawingml/2006/main">
            <a:off x="666750" y="30099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E0D7AF-1268-45FB-AB1C-58418969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3162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Неясна цена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E25A67-FB03-43EB-8658-7D8BBDB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3086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Покупатель откладывает товар или идёт уточнять на кассу.</a:t>
            </a:r>
          </a:p>
        </p:txBody>
      </p:sp>
      <p:sp>
        <p:nvSpPr>
          <p:cNvPr id="7" name="Separator">
            <a:extLst xmlns:a="http://schemas.openxmlformats.org/drawingml/2006/main">
              <a:ext uri="{FF2B5EF4-FFF2-40B4-BE49-F238E27FC236}">
                <a16:creationId xmlns:a16="http://schemas.microsoft.com/office/drawing/2014/main" id="{EE8068CD-AF58-4B31-A5DF-82B082AE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3E7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b3152f2804013"/>
          <a:stretch xmlns:a="http://schemas.openxmlformats.org/drawingml/2006/main"/>
        </p:blipFill>
        <p:spPr>
          <a:xfrm xmlns:a="http://schemas.openxmlformats.org/drawingml/2006/main">
            <a:off x="4219575" y="30099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23DD57-A795-4C7F-A4CD-B10367DB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29075"/>
            <a:ext cx="3162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Сложно выбрать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EFA5AD-0DEF-4240-96DE-7F8B45F7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238750"/>
            <a:ext cx="3086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Не может быстро проверить состав или найти подходящую замену.</a:t>
            </a:r>
          </a:p>
        </p:txBody>
      </p:sp>
      <p:sp>
        <p:nvSpPr>
          <p:cNvPr id="11" name="Separator">
            <a:extLst xmlns:a="http://schemas.openxmlformats.org/drawingml/2006/main">
              <a:ext uri="{FF2B5EF4-FFF2-40B4-BE49-F238E27FC236}">
                <a16:creationId xmlns:a16="http://schemas.microsoft.com/office/drawing/2014/main" id="{44D6555F-CAD9-477F-A626-E9449678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48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3E7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4c954cdd148bb"/>
          <a:stretch xmlns:a="http://schemas.openxmlformats.org/drawingml/2006/main"/>
        </p:blipFill>
        <p:spPr>
          <a:xfrm xmlns:a="http://schemas.openxmlformats.org/drawingml/2006/main">
            <a:off x="7772400" y="30099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317024-08D6-434F-8809-207581A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29075"/>
            <a:ext cx="3162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Акция незаметна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A53E29-1620-44B8-A906-F2CB016F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38750"/>
            <a:ext cx="3086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Нужный товар есть, но покупатель проходит мимо.</a:t>
            </a:r>
          </a:p>
        </p:txBody>
      </p:sp>
      <p:sp>
        <p:nvSpPr>
          <p:cNvPr id="15" name="Separator">
            <a:extLst xmlns:a="http://schemas.openxmlformats.org/drawingml/2006/main">
              <a:ext uri="{FF2B5EF4-FFF2-40B4-BE49-F238E27FC236}">
                <a16:creationId xmlns:a16="http://schemas.microsoft.com/office/drawing/2014/main" id="{A4B4FD2E-58B9-4346-923F-A29EF679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48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3E7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25f7ba03c4e37"/>
          <a:stretch xmlns:a="http://schemas.openxmlformats.org/drawingml/2006/main"/>
        </p:blipFill>
        <p:spPr>
          <a:xfrm xmlns:a="http://schemas.openxmlformats.org/drawingml/2006/main">
            <a:off x="11325225" y="30099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E675E87-F264-4ABF-A286-AD7604C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029075"/>
            <a:ext cx="3162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Сотрудник занят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76CDD58-F710-46D7-A228-6E5FE348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238750"/>
            <a:ext cx="3086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Вопрос остаётся без ответа, и покупка может не состояться.</a:t>
            </a:r>
          </a:p>
        </p:txBody>
      </p:sp>
      <p:sp>
        <p:nvSpPr>
          <p:cNvPr id="19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E1089141-719B-4EF0-BE00-7A951178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81850"/>
            <a:ext cx="13906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1D172C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925897A-4A90-4BE7-B9A9-6B3DBFD4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286625"/>
            <a:ext cx="1339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EFD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EFDFF"/>
                </a:solidFill>
                <a:latin typeface="Segoe UI"/>
                <a:ea typeface="Segoe UI"/>
                <a:cs typeface="Segoe UI"/>
              </a:rPr>
              <a:t>Körset помогает ответить на вопрос покупателя в момент выбора.</a:t>
            </a:r>
          </a:p>
        </p:txBody>
      </p:sp>
    </p:spTree>
    <p:extLst>
      <p:ext uri="{BB962C8B-B14F-4D97-AF65-F5344CB8AC3E}">
        <p14:creationId xmlns:p14="http://schemas.microsoft.com/office/powerpoint/2010/main" val="1106679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619f4016d47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1b2aa93ff49f4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C0A0FF2-1F18-448E-8E43-029B59B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079115A-49C1-4CF0-8370-F83BD58E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381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Четыре возможности для бизнеса</a:t>
            </a:r>
          </a:p>
        </p:txBody>
      </p:sp>
      <p:sp>
        <p:nvSpPr>
          <p:cNvPr id="5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30E8649E-9ACC-4DD7-AC2A-7509531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6772275" cy="185737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0FA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7a9359e9b40f2"/>
          <a:stretch xmlns:a="http://schemas.openxmlformats.org/drawingml/2006/main"/>
        </p:blipFill>
        <p:spPr>
          <a:xfrm xmlns:a="http://schemas.openxmlformats.org/drawingml/2006/main">
            <a:off x="914400" y="33051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BC5BE5-E385-40D7-9435-CC4DF97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5457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Сохранить покупку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B1A1D6-6B08-4F75-A181-0E65FB3D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543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Цена, состав и альтернативы помогают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решить сомнение у полки.</a:t>
            </a:r>
          </a:p>
        </p:txBody>
      </p:sp>
      <p:sp>
        <p:nvSpPr>
          <p:cNvPr id="9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DFB2B458-A17B-4C57-B50F-CC01E8C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38475"/>
            <a:ext cx="6791325" cy="185737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e08ecfb3d4ac3"/>
          <a:stretch xmlns:a="http://schemas.openxmlformats.org/drawingml/2006/main"/>
        </p:blipFill>
        <p:spPr>
          <a:xfrm xmlns:a="http://schemas.openxmlformats.org/drawingml/2006/main">
            <a:off x="8029575" y="33051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BED1B68-7150-4081-B08B-754FE738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8612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Дополнить корзину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9D6597-0DAD-4D88-834C-D182C348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14775"/>
            <a:ext cx="545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Хиты, акции и список покупок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показывают больше вашего ассортимента.</a:t>
            </a:r>
          </a:p>
        </p:txBody>
      </p:sp>
      <p:sp>
        <p:nvSpPr>
          <p:cNvPr id="13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BE3B13DF-25D4-48B9-B4B2-E5060598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6772275" cy="185737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5e93b8f3145d7"/>
          <a:stretch xmlns:a="http://schemas.openxmlformats.org/drawingml/2006/main"/>
        </p:blipFill>
        <p:spPr>
          <a:xfrm xmlns:a="http://schemas.openxmlformats.org/drawingml/2006/main">
            <a:off x="914400" y="54864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7B5AA7-B908-41AE-B779-E441650B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67350"/>
            <a:ext cx="5457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Дать повод вернуться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5FCC4F-717A-4ACB-AE3B-70F12DCF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543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Покупатель знает, где удобно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выбирать под свои предпочтения.</a:t>
            </a:r>
          </a:p>
        </p:txBody>
      </p:sp>
      <p:sp>
        <p:nvSpPr>
          <p:cNvPr id="17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C4E0297E-5843-4211-BCE6-613C158F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19700"/>
            <a:ext cx="6791325" cy="185737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8170fa7df4243"/>
          <a:stretch xmlns:a="http://schemas.openxmlformats.org/drawingml/2006/main"/>
        </p:blipFill>
        <p:spPr>
          <a:xfrm xmlns:a="http://schemas.openxmlformats.org/drawingml/2006/main">
            <a:off x="8029575" y="54864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8B3C6BF-7E43-4A72-9092-F31BB6A8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4673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Освободить время персонала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875182D-D1E1-46B7-80B5-4FCBB9E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96000"/>
            <a:ext cx="545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Часть вопросов о товарах покупатель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решает в телефоне.</a:t>
            </a:r>
          </a:p>
        </p:txBody>
      </p:sp>
      <p:sp>
        <p:nvSpPr>
          <p:cNvPr id="21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52316AD0-7DB3-4B91-BBE2-014CA236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Эффект зависит от ассортимента, размещения QR-кодов и использования сервиса покупателями.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911077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5f3561dee479c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5444B09-2C68-4A94-8F07-41FC0AE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190D56-6315-4ACA-9EEB-6B2FE2B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Цифровая витрина</a:t>
            </a:r>
          </a:p>
          <a:p xmlns:a="http://schemas.openxmlformats.org/drawingml/2006/main">
            <a:pPr algn="l">
              <a:defRPr sz="50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вашего магазина</a:t>
            </a:r>
          </a:p>
        </p:txBody>
      </p:sp>
      <p:sp>
        <p:nvSpPr>
          <p:cNvPr id="4" name="Smartphone metal frame">
            <a:extLst xmlns:a="http://schemas.openxmlformats.org/drawingml/2006/main">
              <a:ext uri="{FF2B5EF4-FFF2-40B4-BE49-F238E27FC236}">
                <a16:creationId xmlns:a16="http://schemas.microsoft.com/office/drawing/2014/main" id="{5F98ADCF-4BBE-46EE-B525-69829E9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00225"/>
            <a:ext cx="2695575" cy="5615452"/>
          </a:xfrm>
          <a:prstGeom xmlns:a="http://schemas.openxmlformats.org/drawingml/2006/main" prst="roundRect">
            <a:avLst>
              <a:gd name="adj" fmla="val 14134"/>
            </a:avLst>
          </a:prstGeom>
          <a:solidFill xmlns:a="http://schemas.openxmlformats.org/drawingml/2006/main">
            <a:srgbClr val="CBC5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Smartphone bezel">
            <a:extLst xmlns:a="http://schemas.openxmlformats.org/drawingml/2006/main">
              <a:ext uri="{FF2B5EF4-FFF2-40B4-BE49-F238E27FC236}">
                <a16:creationId xmlns:a16="http://schemas.microsoft.com/office/drawing/2014/main" id="{9EF183EE-4CFD-4DE6-8971-F498C139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66900"/>
            <a:ext cx="2562225" cy="5482102"/>
          </a:xfrm>
          <a:prstGeom xmlns:a="http://schemas.openxmlformats.org/drawingml/2006/main" prst="roundRect">
            <a:avLst>
              <a:gd name="adj" fmla="val 12639"/>
            </a:avLst>
          </a:prstGeom>
          <a:solidFill xmlns:a="http://schemas.openxmlformats.org/drawingml/2006/main">
            <a:srgbClr val="25212D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0822f6ecf43ea"/>
          <a:stretch xmlns:a="http://schemas.openxmlformats.org/drawingml/2006/main"/>
        </p:blipFill>
        <p:spPr>
          <a:xfrm xmlns:a="http://schemas.openxmlformats.org/drawingml/2006/main">
            <a:off x="8763000" y="2190750"/>
            <a:ext cx="2295525" cy="4967752"/>
          </a:xfrm>
          <a:prstGeom xmlns:a="http://schemas.openxmlformats.org/drawingml/2006/main" prst="roundRect">
            <a:avLst>
              <a:gd name="adj" fmla="val 9129"/>
            </a:avLst>
          </a:prstGeom>
        </p:spPr>
      </p:pic>
      <p:sp>
        <p:nvSpPr>
          <p:cNvPr id="7" name="Phone earpiece">
            <a:extLst xmlns:a="http://schemas.openxmlformats.org/drawingml/2006/main">
              <a:ext uri="{FF2B5EF4-FFF2-40B4-BE49-F238E27FC236}">
                <a16:creationId xmlns:a16="http://schemas.microsoft.com/office/drawing/2014/main" id="{C3629050-23CD-40D4-8CDD-57C6159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1971675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4558"/>
          </a:solidFill>
          <a:ln xmlns:a="http://schemas.openxmlformats.org/drawingml/2006/main" w="0">
            <a:noFill/>
          </a:ln>
        </p:spPr>
      </p:sp>
      <p:sp>
        <p:nvSpPr>
          <p:cNvPr id="8" name="Phone home indicator">
            <a:extLst xmlns:a="http://schemas.openxmlformats.org/drawingml/2006/main">
              <a:ext uri="{FF2B5EF4-FFF2-40B4-BE49-F238E27FC236}">
                <a16:creationId xmlns:a16="http://schemas.microsoft.com/office/drawing/2014/main" id="{7982E4AE-47BE-4CBB-A4E1-758788EF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7244227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1D2"/>
          </a:solidFill>
          <a:ln xmlns:a="http://schemas.openxmlformats.org/drawingml/2006/main" w="0">
            <a:noFill/>
          </a:ln>
        </p:spPr>
      </p:sp>
      <p:sp>
        <p:nvSpPr>
          <p:cNvPr id="9" name="Smartphone metal frame">
            <a:extLst xmlns:a="http://schemas.openxmlformats.org/drawingml/2006/main">
              <a:ext uri="{FF2B5EF4-FFF2-40B4-BE49-F238E27FC236}">
                <a16:creationId xmlns:a16="http://schemas.microsoft.com/office/drawing/2014/main" id="{1696048C-8D90-4745-A4EF-03A2DFEC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381250"/>
            <a:ext cx="2590800" cy="538870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CBC5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Smartphone bezel">
            <a:extLst xmlns:a="http://schemas.openxmlformats.org/drawingml/2006/main">
              <a:ext uri="{FF2B5EF4-FFF2-40B4-BE49-F238E27FC236}">
                <a16:creationId xmlns:a16="http://schemas.microsoft.com/office/drawing/2014/main" id="{8BF3BAA2-68C5-4025-B5F9-30996790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447925"/>
            <a:ext cx="2457450" cy="5255358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25212D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9effc2e2b4976"/>
          <a:stretch xmlns:a="http://schemas.openxmlformats.org/drawingml/2006/main"/>
        </p:blipFill>
        <p:spPr>
          <a:xfrm xmlns:a="http://schemas.openxmlformats.org/drawingml/2006/main">
            <a:off x="11677650" y="2771775"/>
            <a:ext cx="2190750" cy="4741008"/>
          </a:xfrm>
          <a:prstGeom xmlns:a="http://schemas.openxmlformats.org/drawingml/2006/main" prst="roundRect">
            <a:avLst>
              <a:gd name="adj" fmla="val 9565"/>
            </a:avLst>
          </a:prstGeom>
        </p:spPr>
      </p:pic>
      <p:sp>
        <p:nvSpPr>
          <p:cNvPr id="12" name="Phone earpiece">
            <a:extLst xmlns:a="http://schemas.openxmlformats.org/drawingml/2006/main">
              <a:ext uri="{FF2B5EF4-FFF2-40B4-BE49-F238E27FC236}">
                <a16:creationId xmlns:a16="http://schemas.microsoft.com/office/drawing/2014/main" id="{BF8A8789-0B43-4B65-8160-1CB5AE4A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5270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4558"/>
          </a:solidFill>
          <a:ln xmlns:a="http://schemas.openxmlformats.org/drawingml/2006/main" w="0">
            <a:noFill/>
          </a:ln>
        </p:spPr>
      </p:sp>
      <p:sp>
        <p:nvSpPr>
          <p:cNvPr id="13" name="Phone home indicator">
            <a:extLst xmlns:a="http://schemas.openxmlformats.org/drawingml/2006/main">
              <a:ext uri="{FF2B5EF4-FFF2-40B4-BE49-F238E27FC236}">
                <a16:creationId xmlns:a16="http://schemas.microsoft.com/office/drawing/2014/main" id="{4FB220E7-E682-4F5D-8F18-0497253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598508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1D2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2fee04dad4fd0"/>
          <a:stretch xmlns:a="http://schemas.openxmlformats.org/drawingml/2006/main"/>
        </p:blipFill>
        <p:spPr>
          <a:xfrm xmlns:a="http://schemas.openxmlformats.org/drawingml/2006/main">
            <a:off x="666750" y="35909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B3559E2-3C67-49D9-B70F-8ED15059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62350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Ассортимент и цены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74F803A-09A7-4D68-A8D7-4C5735F9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05275"/>
            <a:ext cx="6486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Покупатель изучает товары именно вашей точки.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a1e9f145b49d6"/>
          <a:stretch xmlns:a="http://schemas.openxmlformats.org/drawingml/2006/main"/>
        </p:blipFill>
        <p:spPr>
          <a:xfrm xmlns:a="http://schemas.openxmlformats.org/drawingml/2006/main">
            <a:off x="666750" y="4876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57A0374-123A-4A70-91CF-87C2A75F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48225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Хиты и скидки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C22C021-056D-43D4-99DC-5FDFB69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391150"/>
            <a:ext cx="6486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Продвигайте выбранные товары внутри витрины.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dfd5d983942b7"/>
          <a:stretch xmlns:a="http://schemas.openxmlformats.org/drawingml/2006/main"/>
        </p:blipFill>
        <p:spPr>
          <a:xfrm xmlns:a="http://schemas.openxmlformats.org/drawingml/2006/main">
            <a:off x="666750" y="6162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B296386-EC0D-4234-AD6E-F9998FA1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134100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Контакты и часы работы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9CAB46C-CFBF-4C26-B089-52078DD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677025"/>
            <a:ext cx="6486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Помогите найти магазин и связаться с вами.</a:t>
            </a:r>
          </a:p>
        </p:txBody>
      </p:sp>
      <p:sp>
        <p:nvSpPr>
          <p:cNvPr id="23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071F972C-12B0-4EB7-A44C-ED13796A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Для покупателя бесплатно: открывается по QR-коду в браузере, без установки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858609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E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cd4cfe40e4eeb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308B596-A781-4C27-B236-32157ADF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37E468B-5A88-4ABC-B731-BF471B3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952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Помогите выбрать</a:t>
            </a:r>
          </a:p>
          <a:p xmlns:a="http://schemas.openxmlformats.org/drawingml/2006/main">
            <a:pPr algn="l">
              <a:defRPr sz="47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и остаться в вашем магазине</a:t>
            </a:r>
          </a:p>
        </p:txBody>
      </p:sp>
      <p:sp>
        <p:nvSpPr>
          <p:cNvPr id="4" name="Smartphone metal frame">
            <a:extLst xmlns:a="http://schemas.openxmlformats.org/drawingml/2006/main">
              <a:ext uri="{FF2B5EF4-FFF2-40B4-BE49-F238E27FC236}">
                <a16:creationId xmlns:a16="http://schemas.microsoft.com/office/drawing/2014/main" id="{2C18D615-21DE-4286-BEC7-8E85005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600200"/>
            <a:ext cx="2781300" cy="5800969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CBC5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Smartphone bezel">
            <a:extLst xmlns:a="http://schemas.openxmlformats.org/drawingml/2006/main">
              <a:ext uri="{FF2B5EF4-FFF2-40B4-BE49-F238E27FC236}">
                <a16:creationId xmlns:a16="http://schemas.microsoft.com/office/drawing/2014/main" id="{749F509F-F1CE-48AC-98EF-88250CE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66875"/>
            <a:ext cx="2647950" cy="5667619"/>
          </a:xfrm>
          <a:prstGeom xmlns:a="http://schemas.openxmlformats.org/drawingml/2006/main" prst="roundRect">
            <a:avLst>
              <a:gd name="adj" fmla="val 12230"/>
            </a:avLst>
          </a:prstGeom>
          <a:solidFill xmlns:a="http://schemas.openxmlformats.org/drawingml/2006/main">
            <a:srgbClr val="25212D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cad3ddbf64523"/>
          <a:stretch xmlns:a="http://schemas.openxmlformats.org/drawingml/2006/main"/>
        </p:blipFill>
        <p:spPr>
          <a:xfrm xmlns:a="http://schemas.openxmlformats.org/drawingml/2006/main">
            <a:off x="10839450" y="1990725"/>
            <a:ext cx="2381250" cy="5153269"/>
          </a:xfrm>
          <a:prstGeom xmlns:a="http://schemas.openxmlformats.org/drawingml/2006/main" prst="roundRect">
            <a:avLst>
              <a:gd name="adj" fmla="val 8800"/>
            </a:avLst>
          </a:prstGeom>
        </p:spPr>
      </p:pic>
      <p:sp>
        <p:nvSpPr>
          <p:cNvPr id="7" name="Phone earpiece">
            <a:extLst xmlns:a="http://schemas.openxmlformats.org/drawingml/2006/main">
              <a:ext uri="{FF2B5EF4-FFF2-40B4-BE49-F238E27FC236}">
                <a16:creationId xmlns:a16="http://schemas.microsoft.com/office/drawing/2014/main" id="{11042017-FC19-4791-B30C-93E3BC51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7716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4558"/>
          </a:solidFill>
          <a:ln xmlns:a="http://schemas.openxmlformats.org/drawingml/2006/main" w="0">
            <a:noFill/>
          </a:ln>
        </p:spPr>
      </p:sp>
      <p:sp>
        <p:nvSpPr>
          <p:cNvPr id="8" name="Phone home indicator">
            <a:extLst xmlns:a="http://schemas.openxmlformats.org/drawingml/2006/main">
              <a:ext uri="{FF2B5EF4-FFF2-40B4-BE49-F238E27FC236}">
                <a16:creationId xmlns:a16="http://schemas.microsoft.com/office/drawing/2014/main" id="{5F2F6FBE-05A5-4857-A94D-23C3FAF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7229719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1D2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A097E0-1EFA-40FE-BD5C-B57AE019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823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Умный фильтр состава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D16D73-EA0D-43D0-94C5-C4E9071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8591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Аллергены, халал, питание и другие предпочтения</a:t>
            </a:r>
          </a:p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собраны в одном понятном инструменте.</a:t>
            </a:r>
          </a:p>
        </p:txBody>
      </p:sp>
      <p:sp>
        <p:nvSpPr>
          <p:cNvPr id="11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4AD44E15-E529-4D88-8F2E-481F699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2714625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1EFE7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c7add591e471f"/>
          <a:stretch xmlns:a="http://schemas.openxmlformats.org/drawingml/2006/main"/>
        </p:blipFill>
        <p:spPr>
          <a:xfrm xmlns:a="http://schemas.openxmlformats.org/drawingml/2006/main">
            <a:off x="857250" y="58769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532DAE-653F-4AC1-86CD-43A72A62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8959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Халал</a:t>
            </a:r>
          </a:p>
        </p:txBody>
      </p:sp>
      <p:sp>
        <p:nvSpPr>
          <p:cNvPr id="14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9F77849E-D3DC-475E-BF37-F8D92FA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48325"/>
            <a:ext cx="2714625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0FA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3f93d44764072"/>
          <a:stretch xmlns:a="http://schemas.openxmlformats.org/drawingml/2006/main"/>
        </p:blipFill>
        <p:spPr>
          <a:xfrm xmlns:a="http://schemas.openxmlformats.org/drawingml/2006/main">
            <a:off x="3810000" y="58769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FAA0575-6950-4EBA-972B-596DB782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8959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Без лактозы</a:t>
            </a:r>
          </a:p>
        </p:txBody>
      </p:sp>
      <p:sp>
        <p:nvSpPr>
          <p:cNvPr id="17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DEB39E1C-8D18-456D-AA7F-70B9F27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48325"/>
            <a:ext cx="2714625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b894b4e4f45ec"/>
          <a:stretch xmlns:a="http://schemas.openxmlformats.org/drawingml/2006/main"/>
        </p:blipFill>
        <p:spPr>
          <a:xfrm xmlns:a="http://schemas.openxmlformats.org/drawingml/2006/main">
            <a:off x="6762750" y="58769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8EBB37A-CA97-405A-AAD2-D9808D89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8959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Без глютена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D639F27-21BC-47F7-A513-505091EB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43725"/>
            <a:ext cx="9067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Не подошёл один товар —</a:t>
            </a:r>
          </a:p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помогите рассмотреть альтернативы у вас.</a:t>
            </a:r>
          </a:p>
        </p:txBody>
      </p:sp>
      <p:sp>
        <p:nvSpPr>
          <p:cNvPr id="21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D49A82AD-1AA6-4DEB-A252-BC89579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Полнота проверки зависит от данных о товаре. Состав и предупреждения сверяют с упаковкой.</a:t>
            </a:r>
          </a:p>
        </p:txBody>
      </p:sp>
    </p:spTree>
    <p:extLst>
      <p:ext uri="{BB962C8B-B14F-4D97-AF65-F5344CB8AC3E}">
        <p14:creationId xmlns:p14="http://schemas.microsoft.com/office/powerpoint/2010/main" val="868484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1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80a7523d445f0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A03300B-B00B-4C14-BED0-76E8174F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2B78ED3-22B6-4D39-B325-B4AB0CB4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04925"/>
            <a:ext cx="8858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Больше причин</a:t>
            </a:r>
          </a:p>
          <a:p xmlns:a="http://schemas.openxmlformats.org/drawingml/2006/main">
            <a:pPr algn="l">
              <a:def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дополнить корзину</a:t>
            </a:r>
          </a:p>
        </p:txBody>
      </p:sp>
      <p:sp>
        <p:nvSpPr>
          <p:cNvPr id="4" name="Smartphone metal frame">
            <a:extLst xmlns:a="http://schemas.openxmlformats.org/drawingml/2006/main">
              <a:ext uri="{FF2B5EF4-FFF2-40B4-BE49-F238E27FC236}">
                <a16:creationId xmlns:a16="http://schemas.microsoft.com/office/drawing/2014/main" id="{C240A98C-956C-471F-A1F8-76F831E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95450"/>
            <a:ext cx="2876550" cy="6007100"/>
          </a:xfrm>
          <a:prstGeom xmlns:a="http://schemas.openxmlformats.org/drawingml/2006/main" prst="roundRect">
            <a:avLst>
              <a:gd name="adj" fmla="val 13245"/>
            </a:avLst>
          </a:prstGeom>
          <a:solidFill xmlns:a="http://schemas.openxmlformats.org/drawingml/2006/main">
            <a:srgbClr val="CBC5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Smartphone bezel">
            <a:extLst xmlns:a="http://schemas.openxmlformats.org/drawingml/2006/main">
              <a:ext uri="{FF2B5EF4-FFF2-40B4-BE49-F238E27FC236}">
                <a16:creationId xmlns:a16="http://schemas.microsoft.com/office/drawing/2014/main" id="{DB441EE5-5F26-46EB-855B-4C98C5AD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2743200" cy="5873750"/>
          </a:xfrm>
          <a:prstGeom xmlns:a="http://schemas.openxmlformats.org/drawingml/2006/main" prst="roundRect">
            <a:avLst>
              <a:gd name="adj" fmla="val 11806"/>
            </a:avLst>
          </a:prstGeom>
          <a:solidFill xmlns:a="http://schemas.openxmlformats.org/drawingml/2006/main">
            <a:srgbClr val="25212D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be6d9721f4810"/>
          <a:stretch xmlns:a="http://schemas.openxmlformats.org/drawingml/2006/main"/>
        </p:blipFill>
        <p:spPr>
          <a:xfrm xmlns:a="http://schemas.openxmlformats.org/drawingml/2006/main">
            <a:off x="1657350" y="2085975"/>
            <a:ext cx="2476500" cy="5359400"/>
          </a:xfrm>
          <a:prstGeom xmlns:a="http://schemas.openxmlformats.org/drawingml/2006/main" prst="roundRect">
            <a:avLst>
              <a:gd name="adj" fmla="val 8462"/>
            </a:avLst>
          </a:prstGeom>
        </p:spPr>
      </p:pic>
      <p:sp>
        <p:nvSpPr>
          <p:cNvPr id="7" name="Phone earpiece">
            <a:extLst xmlns:a="http://schemas.openxmlformats.org/drawingml/2006/main">
              <a:ext uri="{FF2B5EF4-FFF2-40B4-BE49-F238E27FC236}">
                <a16:creationId xmlns:a16="http://schemas.microsoft.com/office/drawing/2014/main" id="{7D5ABD4A-7CE9-4FE4-890E-FD57E6B3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4558"/>
          </a:solidFill>
          <a:ln xmlns:a="http://schemas.openxmlformats.org/drawingml/2006/main" w="0">
            <a:noFill/>
          </a:ln>
        </p:spPr>
      </p:sp>
      <p:sp>
        <p:nvSpPr>
          <p:cNvPr id="8" name="Phone home indicator">
            <a:extLst xmlns:a="http://schemas.openxmlformats.org/drawingml/2006/main">
              <a:ext uri="{FF2B5EF4-FFF2-40B4-BE49-F238E27FC236}">
                <a16:creationId xmlns:a16="http://schemas.microsoft.com/office/drawing/2014/main" id="{74A4464C-3C1E-4A0E-AD95-3E5D64CA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75311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1D2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19c0a60674088"/>
          <a:stretch xmlns:a="http://schemas.openxmlformats.org/drawingml/2006/main"/>
        </p:blipFill>
        <p:spPr>
          <a:xfrm xmlns:a="http://schemas.openxmlformats.org/drawingml/2006/main">
            <a:off x="5657850" y="351472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E2706A-40F8-4227-AF31-27940EA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790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Помощник по задаче и бюджету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E1BB98-AF3A-478F-AA64-48018E89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0025"/>
            <a:ext cx="7686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Помогает искать товары под конкретную покупку.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5639f07734e7d"/>
          <a:stretch xmlns:a="http://schemas.openxmlformats.org/drawingml/2006/main"/>
        </p:blipFill>
        <p:spPr>
          <a:xfrm xmlns:a="http://schemas.openxmlformats.org/drawingml/2006/main">
            <a:off x="5657850" y="4819650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DD0E91-38B9-43D8-AF8F-1106D0A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790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Сравнение упаковок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2EE666E-322E-4ED6-A9A7-D6246D5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7686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Цена за кг или литр делает выбор понятнее.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8bf01a8bc4184"/>
          <a:stretch xmlns:a="http://schemas.openxmlformats.org/drawingml/2006/main"/>
        </p:blipFill>
        <p:spPr>
          <a:xfrm xmlns:a="http://schemas.openxmlformats.org/drawingml/2006/main">
            <a:off x="5657850" y="612457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887822-271B-404D-BE96-D937C1C0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76950"/>
            <a:ext cx="790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Список покупок вашей точки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2E6655-1C9A-412C-AE83-16742DA9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619875"/>
            <a:ext cx="7686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Нужные продукты собраны и остаются под рукой.</a:t>
            </a:r>
          </a:p>
        </p:txBody>
      </p:sp>
      <p:sp>
        <p:nvSpPr>
          <p:cNvPr id="18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3FB6184C-D4C3-4DDB-B372-8597DB8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Загруженные данные доступны без сети. Обновление цен и онлайн-помощник требуют подключения.</a:t>
            </a:r>
          </a:p>
        </p:txBody>
      </p:sp>
    </p:spTree>
    <p:extLst>
      <p:ext uri="{BB962C8B-B14F-4D97-AF65-F5344CB8AC3E}">
        <p14:creationId xmlns:p14="http://schemas.microsoft.com/office/powerpoint/2010/main" val="1400741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9cf9f432c4b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6761edb854450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5C0F15E-5F27-4452-8E9A-62208C4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85EB799-1F78-43FA-B334-D1F7A7E9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Кабинет магазина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93312A-A3E0-4619-87E8-B559C292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Спрос</a:t>
            </a:r>
          </a:p>
          <a:p xmlns:a="http://schemas.openxmlformats.org/drawingml/2006/main">
            <a:pPr algn="l">
              <a:defRPr sz="32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до покупки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DE456F-8047-493E-B377-0EE8E41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209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Популярные товары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7838A0-8534-44B9-806C-8064422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3209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Проверьте цену,</a:t>
            </a:r>
          </a:p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наличие и выкладку.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15AD58-5461-49C6-8514-77CB637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3209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Пробелы в каталоге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DCC434-E60B-492C-9497-AECC855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3209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Дополните данные</a:t>
            </a:r>
          </a:p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по неизвестным кодам.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C2BED5-1A4E-4034-AA1B-1BC2D101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24625"/>
            <a:ext cx="3209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Использование сервиса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A65FAD-A37C-45B2-BF07-2572C1B9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62775"/>
            <a:ext cx="3209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Оцените интерес</a:t>
            </a:r>
          </a:p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за выбранный период.</a:t>
            </a:r>
          </a:p>
        </p:txBody>
      </p:sp>
      <p:sp>
        <p:nvSpPr>
          <p:cNvPr id="12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242EEE4F-0C2E-494D-A27C-C51BD399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10267950" cy="5076825"/>
          </a:xfrm>
          <a:prstGeom xmlns:a="http://schemas.openxmlformats.org/drawingml/2006/main" prst="roundRect">
            <a:avLst>
              <a:gd name="adj" fmla="val 4690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9525">
            <a:solidFill>
              <a:srgbClr val="DBD3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3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5845019F-5D9C-47D6-868E-6FB97F1E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10267950" cy="581025"/>
          </a:xfrm>
          <a:prstGeom xmlns:a="http://schemas.openxmlformats.org/drawingml/2006/main" prst="roundRect">
            <a:avLst>
              <a:gd name="adj" fmla="val 40984"/>
            </a:avLst>
          </a:prstGeom>
          <a:solidFill xmlns:a="http://schemas.openxmlformats.org/drawingml/2006/main">
            <a:srgbClr val="ECE6F5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6F4E8E3-E0BC-465D-A694-68C3109B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Кабинет магазина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9D82D4-B512-4BF7-AE0B-9F6E4408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271462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За 30 дней</a:t>
            </a:r>
          </a:p>
        </p:txBody>
      </p:sp>
      <p:sp>
        <p:nvSpPr>
          <p:cNvPr id="16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1F98A508-7588-4DDB-9E8F-33D7FC0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9813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E0FA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E87B864-D903-4AF5-A88E-E831CEE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766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1 248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CFD6DD-19FE-4D77-8D89-1E0F153E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4812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Сканирований</a:t>
            </a:r>
          </a:p>
        </p:txBody>
      </p:sp>
      <p:sp>
        <p:nvSpPr>
          <p:cNvPr id="19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98DF96FD-5507-41FE-BCE1-37214EAE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29813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0BB9E46-FBDA-44A1-B344-86110F4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766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640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9933B0C-B358-45AC-868D-21FD07D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4812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Позиций в каталоге</a:t>
            </a:r>
          </a:p>
        </p:txBody>
      </p:sp>
      <p:sp>
        <p:nvSpPr>
          <p:cNvPr id="22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075ED2C6-71EF-4504-9924-264858C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0"/>
            <a:ext cx="29813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AF0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E358548-C713-43FE-A90D-D57723E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4766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8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A2EA9A5-8996-45BF-A4BB-5E7B94C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04812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Неизвестных штрихкодов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4610100" y="4762500"/>
          <a:ext xmlns:a="http://schemas.openxmlformats.org/drawingml/2006/main" cx="5972175" cy="2562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d4ef636fde47ed"/>
          </a:graphicData>
        </a:graphic>
      </p:graphicFrame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9EB9157-AD32-4078-AD2E-A86FD989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800600"/>
            <a:ext cx="3105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Популярные товары</a:t>
            </a:r>
          </a:p>
        </p:txBody>
      </p:sp>
      <p:sp>
        <p:nvSpPr>
          <p:cNvPr id="27" name="Separator">
            <a:extLst xmlns:a="http://schemas.openxmlformats.org/drawingml/2006/main">
              <a:ext uri="{FF2B5EF4-FFF2-40B4-BE49-F238E27FC236}">
                <a16:creationId xmlns:a16="http://schemas.microsoft.com/office/drawing/2014/main" id="{21CFBC15-0238-4BE8-88BD-480A8051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248275"/>
            <a:ext cx="3114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65E7120-38D3-4E0A-8750-CBAE6180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324475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7637F2F-6C35-438E-879B-0CAC1EB8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3244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Молоко 2,5%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6F40054-4755-445C-92E1-86982BC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3244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190</a:t>
            </a:r>
          </a:p>
        </p:txBody>
      </p:sp>
      <p:sp>
        <p:nvSpPr>
          <p:cNvPr id="31" name="Separator">
            <a:extLst xmlns:a="http://schemas.openxmlformats.org/drawingml/2006/main">
              <a:ext uri="{FF2B5EF4-FFF2-40B4-BE49-F238E27FC236}">
                <a16:creationId xmlns:a16="http://schemas.microsoft.com/office/drawing/2014/main" id="{952A293F-E201-457E-974C-FD6B75F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791200"/>
            <a:ext cx="3114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27343F0-9439-460D-92A6-E2E805F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86740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4515BEC-A97E-48AF-9C0B-8CA400E0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8674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Хлеб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5790690-C86C-4344-A4B2-B0533C6D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8674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146</a:t>
            </a:r>
          </a:p>
        </p:txBody>
      </p:sp>
      <p:sp>
        <p:nvSpPr>
          <p:cNvPr id="35" name="Separator">
            <a:extLst xmlns:a="http://schemas.openxmlformats.org/drawingml/2006/main">
              <a:ext uri="{FF2B5EF4-FFF2-40B4-BE49-F238E27FC236}">
                <a16:creationId xmlns:a16="http://schemas.microsoft.com/office/drawing/2014/main" id="{DF925C91-1275-4D84-B397-5CA35B0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34125"/>
            <a:ext cx="3114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5124651-A347-45D3-9AAC-03C25E1E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410325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B67E92B-E52A-429C-B6F9-834D91D4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4103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Йогурт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8D37826-245D-43FD-8EE1-3B8F66F7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4103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103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FF9C860-42A5-4C84-9794-C0988EFF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7038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Дополнить каталог: 8 штрихкодов</a:t>
            </a:r>
          </a:p>
        </p:txBody>
      </p:sp>
      <p:sp>
        <p:nvSpPr>
          <p:cNvPr id="40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4CA1C2CC-6264-4411-B154-DC83C74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Концепт оформления кабинета. Цифры — пример. Сканирования показывают интерес, а не число покупок.</a:t>
            </a:r>
          </a:p>
        </p:txBody>
      </p:sp>
    </p:spTree>
    <p:extLst>
      <p:ext uri="{BB962C8B-B14F-4D97-AF65-F5344CB8AC3E}">
        <p14:creationId xmlns:p14="http://schemas.microsoft.com/office/powerpoint/2010/main" val="2090218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9E0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ce09af5384012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2FE3197-1001-4940-9BE5-70823DC2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BC78606-A5E6-46FA-B337-69CA235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Управляйте тем,</a:t>
            </a:r>
          </a:p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что покупатель видит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6948c86414621"/>
          <a:stretch xmlns:a="http://schemas.openxmlformats.org/drawingml/2006/main"/>
        </p:blipFill>
        <p:spPr>
          <a:xfrm xmlns:a="http://schemas.openxmlformats.org/drawingml/2006/main">
            <a:off x="666750" y="36576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C195DE-7398-4F09-A907-40E914A4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29025"/>
            <a:ext cx="554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Цены и наличие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431BE8-B4F5-49DE-8414-B05B4B9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52900"/>
            <a:ext cx="560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Поддерживайте актуальную витрину точки.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f47c6ca79402d"/>
          <a:stretch xmlns:a="http://schemas.openxmlformats.org/drawingml/2006/main"/>
        </p:blipFill>
        <p:spPr>
          <a:xfrm xmlns:a="http://schemas.openxmlformats.org/drawingml/2006/main">
            <a:off x="666750" y="49625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ACF040-EEB5-4FD6-8BAF-5064603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33950"/>
            <a:ext cx="554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Хиты и акции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19BEF9-E0B2-44B7-8849-DBDF8148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457825"/>
            <a:ext cx="560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Выделяйте товары, которые хотите показать.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044f27d604b8e"/>
          <a:stretch xmlns:a="http://schemas.openxmlformats.org/drawingml/2006/main"/>
        </p:blipFill>
        <p:spPr>
          <a:xfrm xmlns:a="http://schemas.openxmlformats.org/drawingml/2006/main">
            <a:off x="666750" y="62674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01AB97-0687-4165-981E-9C42A2C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238875"/>
            <a:ext cx="554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Рекомендации к списку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3FFCF2-C482-4CF5-BC5F-F487164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762750"/>
            <a:ext cx="560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Предлагайте дополнения внутри своего ассортимента.</a:t>
            </a:r>
          </a:p>
        </p:txBody>
      </p:sp>
      <p:sp>
        <p:nvSpPr>
          <p:cNvPr id="13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04143487-2DD8-4557-BB77-8915C1C7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6858000" cy="4438650"/>
          </a:xfrm>
          <a:prstGeom xmlns:a="http://schemas.openxmlformats.org/drawingml/2006/main" prst="roundRect">
            <a:avLst>
              <a:gd name="adj" fmla="val 6009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16DE8E3-DF5A-44D1-8A4E-D9A6DCDC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Карточка вашего товара</a:t>
            </a:r>
          </a:p>
        </p:txBody>
      </p:sp>
      <p:sp>
        <p:nvSpPr>
          <p:cNvPr id="15" name="Separator">
            <a:extLst xmlns:a="http://schemas.openxmlformats.org/drawingml/2006/main">
              <a:ext uri="{FF2B5EF4-FFF2-40B4-BE49-F238E27FC236}">
                <a16:creationId xmlns:a16="http://schemas.microsoft.com/office/drawing/2014/main" id="{847F0292-487F-4BC9-A7FA-4A63E4AD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619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c5b01d3f54c39"/>
          <a:stretch xmlns:a="http://schemas.openxmlformats.org/drawingml/2006/main"/>
        </p:blipFill>
        <p:spPr>
          <a:xfrm xmlns:a="http://schemas.openxmlformats.org/drawingml/2006/main">
            <a:off x="8124825" y="4267200"/>
            <a:ext cx="733425" cy="733425"/>
          </a:xfrm>
          <a:prstGeom xmlns:a="http://schemas.openxmlformats.org/drawingml/2006/main" prst="rect">
            <a:avLst/>
          </a:prstGeom>
        </p:spPr>
      </p:pic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36145A1-AE6C-4A39-A373-9CD95F30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48150"/>
            <a:ext cx="4733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Ваш товар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FC03A44-9909-4BE2-BB81-E6DF369E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Пример настроек в кабинете</a:t>
            </a:r>
          </a:p>
        </p:txBody>
      </p:sp>
      <p:sp>
        <p:nvSpPr>
          <p:cNvPr id="19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D32B60C3-8218-40B6-B307-72777C2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2952750" cy="762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AFC563A-E64A-42CA-A40C-5F35157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Цена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787D84-E04F-4651-8464-8F701424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429250"/>
            <a:ext cx="1323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890 ₸</a:t>
            </a:r>
          </a:p>
        </p:txBody>
      </p:sp>
      <p:sp>
        <p:nvSpPr>
          <p:cNvPr id="22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F85B2D17-3AE6-4BD8-8AD4-DA092972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038475" cy="762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EFE7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A9F62F3-ECA7-4258-BAFC-0136093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2925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6B51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16B51"/>
                </a:solidFill>
                <a:latin typeface="Segoe UI"/>
                <a:ea typeface="Segoe UI"/>
                <a:cs typeface="Segoe UI"/>
              </a:rPr>
              <a:t>В наличии</a:t>
            </a:r>
          </a:p>
        </p:txBody>
      </p:sp>
      <p:sp>
        <p:nvSpPr>
          <p:cNvPr id="24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C49C3117-EA42-40AA-9377-EAC4127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210300"/>
            <a:ext cx="1943100" cy="885825"/>
          </a:xfrm>
          <a:prstGeom xmlns:a="http://schemas.openxmlformats.org/drawingml/2006/main" prst="roundRect">
            <a:avLst>
              <a:gd name="adj" fmla="val 18280"/>
            </a:avLst>
          </a:prstGeom>
          <a:solidFill xmlns:a="http://schemas.openxmlformats.org/drawingml/2006/main">
            <a:srgbClr val="E9E0FA"/>
          </a:solidFill>
          <a:ln xmlns:a="http://schemas.openxmlformats.org/drawingml/2006/main" w="0">
            <a:noFill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EA04D56-A511-47F1-9384-A1486B0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457950"/>
            <a:ext cx="1419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Хит</a:t>
            </a:r>
          </a:p>
        </p:txBody>
      </p:sp>
      <p:sp>
        <p:nvSpPr>
          <p:cNvPr id="26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34D12836-23FF-455C-96FF-7CA67647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10300"/>
            <a:ext cx="1847850" cy="885825"/>
          </a:xfrm>
          <a:prstGeom xmlns:a="http://schemas.openxmlformats.org/drawingml/2006/main" prst="roundRect">
            <a:avLst>
              <a:gd name="adj" fmla="val 18280"/>
            </a:avLst>
          </a:prstGeom>
          <a:solidFill xmlns:a="http://schemas.openxmlformats.org/drawingml/2006/main">
            <a:srgbClr val="F4EAF0"/>
          </a:solidFill>
          <a:ln xmlns:a="http://schemas.openxmlformats.org/drawingml/2006/main" w="0">
            <a:noFill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C182933-370E-4CFD-AE53-E77B7534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457950"/>
            <a:ext cx="1419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Акция</a:t>
            </a:r>
          </a:p>
        </p:txBody>
      </p:sp>
      <p:sp>
        <p:nvSpPr>
          <p:cNvPr id="28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79C81F6C-E498-4FE3-BF66-FABFDBCF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210300"/>
            <a:ext cx="1990725" cy="885825"/>
          </a:xfrm>
          <a:prstGeom xmlns:a="http://schemas.openxmlformats.org/drawingml/2006/main" prst="roundRect">
            <a:avLst>
              <a:gd name="adj" fmla="val 18280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0">
            <a:noFill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655E2C1-79B8-43EF-8ED4-5CCAF62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4579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В список</a:t>
            </a:r>
          </a:p>
        </p:txBody>
      </p:sp>
      <p:sp>
        <p:nvSpPr>
          <p:cNvPr id="30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7BE6AEAA-3DF7-4A38-B99F-973572D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Макет интерфейса. Примерные данные. В кабинет также входят сведения, контакты и фотографии магазина.</a:t>
            </a:r>
          </a:p>
        </p:txBody>
      </p:sp>
    </p:spTree>
    <p:extLst>
      <p:ext uri="{BB962C8B-B14F-4D97-AF65-F5344CB8AC3E}">
        <p14:creationId xmlns:p14="http://schemas.microsoft.com/office/powerpoint/2010/main" val="666530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21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c9434405f4806"/>
          <a:stretch xmlns:a="http://schemas.openxmlformats.org/drawingml/2006/main"/>
        </p:blipFill>
        <p:spPr>
          <a:xfrm xmlns:a="http://schemas.openxmlformats.org/drawingml/2006/main">
            <a:off x="908636" y="457200"/>
            <a:ext cx="1164054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A2CEED2-01CC-4C10-85EB-279F45EE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a5e131c3c41dd"/>
          <a:stretch xmlns:a="http://schemas.openxmlformats.org/drawingml/2006/main"/>
        </p:blipFill>
        <p:spPr>
          <a:xfrm xmlns:a="http://schemas.openxmlformats.org/drawingml/2006/main">
            <a:off x="12330113" y="1123950"/>
            <a:ext cx="1866900" cy="2800350"/>
          </a:xfrm>
          <a:prstGeom xmlns:a="http://schemas.openxmlformats.org/drawingml/2006/main" prst="rect">
            <a:avLst/>
          </a:prstGeom>
        </p:spPr>
      </p:pic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ABDFFC6-C3E6-4EEB-B872-0BE77656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Сколько покупок</a:t>
            </a:r>
          </a:p>
          <a:p xmlns:a="http://schemas.openxmlformats.org/drawingml/2006/main">
            <a:pPr algn="l">
              <a:defRPr sz="5025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покрывает подписку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77D3E2-DD8C-4A5A-B056-60DBCCF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343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B3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C9B3FF"/>
                </a:solidFill>
                <a:latin typeface="Segoe UI"/>
                <a:ea typeface="Segoe UI"/>
                <a:cs typeface="Segoe UI"/>
              </a:rPr>
              <a:t>Считаем по дополнительной валовой прибыли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BDF098-6756-48E3-806D-BF44A71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5791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75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6975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15 000 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B5A690-1A08-4D10-809A-028ED67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5782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подписка за месяц</a:t>
            </a:r>
          </a:p>
        </p:txBody>
      </p:sp>
      <p:sp>
        <p:nvSpPr>
          <p:cNvPr id="8" name="Separator">
            <a:extLst xmlns:a="http://schemas.openxmlformats.org/drawingml/2006/main">
              <a:ext uri="{FF2B5EF4-FFF2-40B4-BE49-F238E27FC236}">
                <a16:creationId xmlns:a16="http://schemas.microsoft.com/office/drawing/2014/main" id="{2691A919-0D96-40FE-B32C-A1D586D5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6715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4569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A8A72B5-9972-4054-BB8F-AE56CA65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4229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5850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÷ 500 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C443533-2604-48F0-B846-255DAC9D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219825"/>
            <a:ext cx="2905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C9B3FF"/>
                </a:solidFill>
                <a:latin typeface="Bahnschrift"/>
                <a:ea typeface="Bahnschrift"/>
                <a:cs typeface="Bahnschrift"/>
              </a:defRPr>
            </a:pPr>
            <a:r>
              <a:rPr sz="5850" b="1">
                <a:solidFill>
                  <a:srgbClr val="C9B3FF"/>
                </a:solidFill>
                <a:latin typeface="Bahnschrift"/>
                <a:ea typeface="Bahnschrift"/>
                <a:cs typeface="Bahnschrift"/>
              </a:rPr>
              <a:t>= 30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58CB7FD-E9D9-495A-A308-258A9FB8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267575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валовой прибыли</a:t>
            </a:r>
          </a:p>
          <a:p xmlns:a="http://schemas.openxmlformats.org/drawingml/2006/main">
            <a:pPr algn="l">
              <a:defRPr sz="1800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с дополнительной покупки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B587B5-6AC3-4B73-BDBD-A5FFD58B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267575"/>
            <a:ext cx="2886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B3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C9B3FF"/>
                </a:solidFill>
                <a:latin typeface="Segoe UI"/>
                <a:ea typeface="Segoe UI"/>
                <a:cs typeface="Segoe UI"/>
              </a:rPr>
              <a:t>покупок за месяц</a:t>
            </a:r>
          </a:p>
          <a:p xmlns:a="http://schemas.openxmlformats.org/drawingml/2006/main">
            <a:pPr algn="l">
              <a:defRPr sz="1875" b="1">
                <a:solidFill>
                  <a:srgbClr val="C9B3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C9B3FF"/>
                </a:solidFill>
                <a:latin typeface="Segoe UI"/>
                <a:ea typeface="Segoe UI"/>
                <a:cs typeface="Segoe UI"/>
              </a:rPr>
              <a:t>≈ 1 в день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562975" y="4095750"/>
          <a:ext xmlns:a="http://schemas.openxmlformats.org/drawingml/2006/main" cx="59055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6d68bdadbc496f"/>
          </a:graphicData>
        </a:graphic>
      </p:graphicFrame>
      <p:sp>
        <p:nvSpPr>
          <p:cNvPr id="14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08A32810-F454-42A4-BCB7-18168E4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7720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Пример расчёта, не прогноз. Валовая прибыль — выручка минус закупочная стоимость. Печать и прочие расходы не включены.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252325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5E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5ece1f9f1431c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C06F84-7FDD-4E65-89AE-D07CB38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EC714E4-7BA0-4B9C-9909-949A26C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2287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Синхронизация цен</a:t>
            </a:r>
          </a:p>
          <a:p xmlns:a="http://schemas.openxmlformats.org/drawingml/2006/main">
            <a:pPr algn="l">
              <a:def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и наличия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A55954-F730-4EA7-A74B-3DA9AE4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Один источник данных — ваша учётная система</a:t>
            </a:r>
          </a:p>
        </p:txBody>
      </p:sp>
      <p:sp>
        <p:nvSpPr>
          <p:cNvPr id="5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BDEE8AFD-7CB7-4301-A4EF-EF5CA503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4210050" cy="3495675"/>
          </a:xfrm>
          <a:prstGeom xmlns:a="http://schemas.openxmlformats.org/drawingml/2006/main" prst="roundRect">
            <a:avLst>
              <a:gd name="adj" fmla="val 6812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6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9EC3CC53-8168-427B-9CCA-77633F08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3543300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FBF5E1"/>
          </a:solidFill>
          <a:ln xmlns:a="http://schemas.openxmlformats.org/drawingml/2006/main" w="0">
            <a:noFill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BC686C-5D0C-4893-AAD3-18672798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4342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A64932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A64932"/>
                </a:solidFill>
                <a:latin typeface="Bahnschrift"/>
                <a:ea typeface="Bahnschrift"/>
                <a:cs typeface="Bahnschrift"/>
              </a:rPr>
              <a:t>1С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8E35B6-2873-4AB6-AE21-B55AECC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или другая система учёта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B6244C-55CE-4DB9-8C6F-439A0DA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38875"/>
            <a:ext cx="3400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Цена • название • остаток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431067-9390-4124-BCCB-62CC6222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68655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Магазин работает</a:t>
            </a:r>
          </a:p>
          <a:p xmlns:a="http://schemas.openxmlformats.org/drawingml/2006/main">
            <a:pPr algn="l">
              <a:defRPr sz="18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в привычной программе</a:t>
            </a:r>
          </a:p>
        </p:txBody>
      </p:sp>
      <p:sp>
        <p:nvSpPr>
          <p:cNvPr id="11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5F03A909-0A5B-4AA8-A91C-B3612836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019550"/>
            <a:ext cx="3971925" cy="3505200"/>
          </a:xfrm>
          <a:prstGeom xmlns:a="http://schemas.openxmlformats.org/drawingml/2006/main" prst="roundRect">
            <a:avLst>
              <a:gd name="adj" fmla="val 6793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0547cc00a49cf"/>
          <a:stretch xmlns:a="http://schemas.openxmlformats.org/drawingml/2006/main"/>
        </p:blipFill>
        <p:spPr>
          <a:xfrm xmlns:a="http://schemas.openxmlformats.org/drawingml/2006/main">
            <a:off x="10925175" y="4286250"/>
            <a:ext cx="1695450" cy="516582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426D20-DB29-4A65-8005-F21CFF2E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943475"/>
            <a:ext cx="319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Каталог вашей точки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1df7eaa6a4d6a"/>
          <a:stretch xmlns:a="http://schemas.openxmlformats.org/drawingml/2006/main"/>
        </p:blipFill>
        <p:spPr>
          <a:xfrm xmlns:a="http://schemas.openxmlformats.org/drawingml/2006/main">
            <a:off x="10925175" y="56007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3F4DB13-ACA5-4DD7-9AED-F7C66A9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6007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Названия товаров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f4fefd0114640"/>
          <a:stretch xmlns:a="http://schemas.openxmlformats.org/drawingml/2006/main"/>
        </p:blipFill>
        <p:spPr>
          <a:xfrm xmlns:a="http://schemas.openxmlformats.org/drawingml/2006/main">
            <a:off x="10925175" y="60960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17461A0-9FB3-4DE7-B610-965B027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0960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Цены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c2aff45ce4dae"/>
          <a:stretch xmlns:a="http://schemas.openxmlformats.org/drawingml/2006/main"/>
        </p:blipFill>
        <p:spPr>
          <a:xfrm xmlns:a="http://schemas.openxmlformats.org/drawingml/2006/main">
            <a:off x="10925175" y="65913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CFCD2F-42CF-4975-8D34-B0B7A970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5913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Наличие</a:t>
            </a:r>
          </a:p>
        </p:txBody>
      </p:sp>
      <p:sp>
        <p:nvSpPr>
          <p:cNvPr id="20" name="Separator">
            <a:extLst xmlns:a="http://schemas.openxmlformats.org/drawingml/2006/main">
              <a:ext uri="{FF2B5EF4-FFF2-40B4-BE49-F238E27FC236}">
                <a16:creationId xmlns:a16="http://schemas.microsoft.com/office/drawing/2014/main" id="{D8907AC3-3058-443E-BACE-78C8848F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72025"/>
            <a:ext cx="4733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97CF"/>
            </a:solidFill>
          </a:ln>
        </p:spPr>
      </p:sp>
      <p:sp>
        <p:nvSpPr>
          <p:cNvPr id="21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B1AD4B18-F05B-4B3C-8299-F66282D8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2667000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E791964-ABB3-43D7-BF34-30C873E5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Названия</a:t>
            </a:r>
          </a:p>
        </p:txBody>
      </p:sp>
      <p:sp>
        <p:nvSpPr>
          <p:cNvPr id="23" name="Editable process connector">
            <a:extLst xmlns:a="http://schemas.openxmlformats.org/drawingml/2006/main">
              <a:ext uri="{FF2B5EF4-FFF2-40B4-BE49-F238E27FC236}">
                <a16:creationId xmlns:a16="http://schemas.microsoft.com/office/drawing/2014/main" id="{D65D40A5-DA13-4499-B1FD-69498D9C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8630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97CF"/>
          </a:solidFill>
          <a:ln xmlns:a="http://schemas.openxmlformats.org/drawingml/2006/main" w="0">
            <a:noFill/>
          </a:ln>
        </p:spPr>
      </p:sp>
      <p:sp>
        <p:nvSpPr>
          <p:cNvPr id="24" name="Separator">
            <a:extLst xmlns:a="http://schemas.openxmlformats.org/drawingml/2006/main">
              <a:ext uri="{FF2B5EF4-FFF2-40B4-BE49-F238E27FC236}">
                <a16:creationId xmlns:a16="http://schemas.microsoft.com/office/drawing/2014/main" id="{F3F60EC1-9E40-4474-AE5E-BCC77E88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753100"/>
            <a:ext cx="4733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73DE6"/>
            </a:solidFill>
          </a:ln>
        </p:spPr>
      </p:sp>
      <p:sp>
        <p:nvSpPr>
          <p:cNvPr id="25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B0EE8828-B401-495B-B0BF-29081C54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76875"/>
            <a:ext cx="2667000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0">
            <a:noFill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A322EA7-98A2-48F3-96B9-DCC6341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911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Цены</a:t>
            </a:r>
          </a:p>
        </p:txBody>
      </p:sp>
      <p:sp>
        <p:nvSpPr>
          <p:cNvPr id="27" name="Editable process connector">
            <a:extLst xmlns:a="http://schemas.openxmlformats.org/drawingml/2006/main">
              <a:ext uri="{FF2B5EF4-FFF2-40B4-BE49-F238E27FC236}">
                <a16:creationId xmlns:a16="http://schemas.microsoft.com/office/drawing/2014/main" id="{F9EF8791-9658-4A5A-9125-7F59A322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66737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73DE6"/>
          </a:solidFill>
          <a:ln xmlns:a="http://schemas.openxmlformats.org/drawingml/2006/main" w="0">
            <a:noFill/>
          </a:ln>
        </p:spPr>
      </p:sp>
      <p:sp>
        <p:nvSpPr>
          <p:cNvPr id="28" name="Separator">
            <a:extLst xmlns:a="http://schemas.openxmlformats.org/drawingml/2006/main">
              <a:ext uri="{FF2B5EF4-FFF2-40B4-BE49-F238E27FC236}">
                <a16:creationId xmlns:a16="http://schemas.microsoft.com/office/drawing/2014/main" id="{3D76DE8F-B6FF-498B-B8F4-DDB59B4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734175"/>
            <a:ext cx="4733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97CF"/>
            </a:solidFill>
          </a:ln>
        </p:spPr>
      </p:sp>
      <p:sp>
        <p:nvSpPr>
          <p:cNvPr id="29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9BEA9728-BED6-46DE-9745-D3394CC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457950"/>
            <a:ext cx="2667000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7"/>
          </a:solidFill>
          <a:ln xmlns:a="http://schemas.openxmlformats.org/drawingml/2006/main" w="0">
            <a:noFill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5F51D0B-630C-4FE4-8102-8812494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572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Наличие и остатки</a:t>
            </a:r>
          </a:p>
        </p:txBody>
      </p:sp>
      <p:sp>
        <p:nvSpPr>
          <p:cNvPr id="31" name="Editable process connector">
            <a:extLst xmlns:a="http://schemas.openxmlformats.org/drawingml/2006/main">
              <a:ext uri="{FF2B5EF4-FFF2-40B4-BE49-F238E27FC236}">
                <a16:creationId xmlns:a16="http://schemas.microsoft.com/office/drawing/2014/main" id="{A9E3E878-CFEA-4D72-80FE-DF9D2802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64845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97CF"/>
          </a:solidFill>
          <a:ln xmlns:a="http://schemas.openxmlformats.org/drawingml/2006/main" w="0">
            <a:noFill/>
          </a:ln>
        </p:spPr>
      </p:sp>
      <p:sp>
        <p:nvSpPr>
          <p:cNvPr id="32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B2E4CEDF-B654-4290-8740-2183633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Автоматический обмен — после запуска интеграции. Совместимость версии и конфигурации проверяем до подключения.</a:t>
            </a:r>
          </a:p>
        </p:txBody>
      </p:sp>
    </p:spTree>
    <p:extLst>
      <p:ext uri="{BB962C8B-B14F-4D97-AF65-F5344CB8AC3E}">
        <p14:creationId xmlns:p14="http://schemas.microsoft.com/office/powerpoint/2010/main" val="407581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7e475b8cc4317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D7D4563-4819-4DDB-B81A-76C2F2EA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4F7C32A-CA96-4DE2-8A61-E3A41C7B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99536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Ваш магазин</a:t>
            </a:r>
          </a:p>
          <a:p xmlns:a="http://schemas.openxmlformats.org/drawingml/2006/main">
            <a:pPr algn="l">
              <a:def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 контенте Körset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b3298d9104124"/>
          <a:stretch xmlns:a="http://schemas.openxmlformats.org/drawingml/2006/main"/>
        </p:blipFill>
        <p:spPr>
          <a:xfrm xmlns:a="http://schemas.openxmlformats.org/drawingml/2006/main">
            <a:off x="576263" y="3086100"/>
            <a:ext cx="6715125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300E9841-D017-402C-8EBD-C8B4364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598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9E0FA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b05c65b5e44e7"/>
          <a:stretch xmlns:a="http://schemas.openxmlformats.org/drawingml/2006/main"/>
        </p:blipFill>
        <p:spPr>
          <a:xfrm xmlns:a="http://schemas.openxmlformats.org/drawingml/2006/main">
            <a:off x="8829675" y="32861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479EEF-F0E1-47FA-A248-C3B1DD63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314700"/>
            <a:ext cx="480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Instagram и TikTok — план запуска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69A938-2E0D-41D6-931A-EE1B02AF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9575"/>
            <a:ext cx="5972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Снять в вашем магазине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31EFDB-6A5C-4AF2-A441-0A339C88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95825"/>
            <a:ext cx="5972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Показать ассортимент и сценарии выбора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с учётом питания, халал и бюджета.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98B18C-8EC8-4A0C-8092-11781C79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62575"/>
            <a:ext cx="5972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Назвать вашу точку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CB7C8C-3CBD-4E88-A0C6-8A062DDF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38825"/>
            <a:ext cx="5972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Адрес и название в ролике помогают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заинтересованным зрителям найти магазин.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FAE67C-EA11-4FAE-BA56-7623FC2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505575"/>
            <a:ext cx="5972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Дать ещё один повод прийти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F9DEF49-7D28-4D8B-97EB-DECCEE4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981825"/>
            <a:ext cx="5972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Удобный сервис может стать преимуществом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для аудитории с особыми предпочтениями.</a:t>
            </a:r>
          </a:p>
        </p:txBody>
      </p:sp>
      <p:sp>
        <p:nvSpPr>
          <p:cNvPr id="14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649D96DF-A3AC-435D-881F-C7B97297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Совместные съёмки и публикации — по согласованию. Охваты и число пришедших покупателей не гарантируются.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19294267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9E0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7d082e71f48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c5c9a8e5448eb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5E16C3-B491-4B7D-9DC3-692B82C1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0942D13-E3AB-4D79-B39C-3F8A8201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3430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Привычка покупателя</a:t>
            </a:r>
          </a:p>
          <a:p xmlns:a="http://schemas.openxmlformats.org/drawingml/2006/main">
            <a:pPr algn="l">
              <a:def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8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работает на ваш магазин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565871f6548a9"/>
          <a:stretch xmlns:a="http://schemas.openxmlformats.org/drawingml/2006/main"/>
        </p:blipFill>
        <p:spPr>
          <a:xfrm xmlns:a="http://schemas.openxmlformats.org/drawingml/2006/main">
            <a:off x="666750" y="3571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301D41-E4A9-4E9C-BA63-0306E6F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Первый вход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A711A4-0797-4CDC-BF40-E0608CD8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3076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QR на входе,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полке или кассе</a:t>
            </a:r>
          </a:p>
        </p:txBody>
      </p:sp>
      <p:sp>
        <p:nvSpPr>
          <p:cNvPr id="8" name="Editable process connector">
            <a:extLst xmlns:a="http://schemas.openxmlformats.org/drawingml/2006/main">
              <a:ext uri="{FF2B5EF4-FFF2-40B4-BE49-F238E27FC236}">
                <a16:creationId xmlns:a16="http://schemas.microsoft.com/office/drawing/2014/main" id="{8C32C8DD-82ED-43C9-8341-59D0FDA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528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8ED2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3009865fa4445"/>
          <a:stretch xmlns:a="http://schemas.openxmlformats.org/drawingml/2006/main"/>
        </p:blipFill>
        <p:spPr>
          <a:xfrm xmlns:a="http://schemas.openxmlformats.org/drawingml/2006/main">
            <a:off x="4238625" y="3571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D880C8-D117-4C77-8305-9A99917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Выбор у полки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0AABBC-D4CD-400D-BFA1-11EA46D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48300"/>
            <a:ext cx="3076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Быстрый ответ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 нужном товаре</a:t>
            </a:r>
          </a:p>
        </p:txBody>
      </p:sp>
      <p:sp>
        <p:nvSpPr>
          <p:cNvPr id="12" name="Editable process connector">
            <a:extLst xmlns:a="http://schemas.openxmlformats.org/drawingml/2006/main">
              <a:ext uri="{FF2B5EF4-FFF2-40B4-BE49-F238E27FC236}">
                <a16:creationId xmlns:a16="http://schemas.microsoft.com/office/drawing/2014/main" id="{2C210B5D-C886-468A-9CD8-E17B5D4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528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8ED2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703f0df29437f"/>
          <a:stretch xmlns:a="http://schemas.openxmlformats.org/drawingml/2006/main"/>
        </p:blipFill>
        <p:spPr>
          <a:xfrm xmlns:a="http://schemas.openxmlformats.org/drawingml/2006/main">
            <a:off x="7810500" y="3571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FE81C27-729A-4F7D-A30B-653FB6D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4817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Повторное использование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0145E9-4C8E-4338-A829-8584CEFC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076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Причина выбирать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у вас снова</a:t>
            </a:r>
          </a:p>
        </p:txBody>
      </p:sp>
      <p:sp>
        <p:nvSpPr>
          <p:cNvPr id="16" name="Editable process connector">
            <a:extLst xmlns:a="http://schemas.openxmlformats.org/drawingml/2006/main">
              <a:ext uri="{FF2B5EF4-FFF2-40B4-BE49-F238E27FC236}">
                <a16:creationId xmlns:a16="http://schemas.microsoft.com/office/drawing/2014/main" id="{A4031547-6D94-44FB-9BA4-61C18341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7528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8ED2"/>
          </a:solidFill>
          <a:ln xmlns:a="http://schemas.openxmlformats.org/drawingml/2006/main" w="0">
            <a:noFill/>
          </a:ln>
        </p:spPr>
      </p:sp>
      <p:sp>
        <p:nvSpPr>
          <p:cNvPr id="17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62E11ACF-A315-4E89-AED7-7EDC8FD1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324225"/>
            <a:ext cx="3362325" cy="2981325"/>
          </a:xfrm>
          <a:prstGeom xmlns:a="http://schemas.openxmlformats.org/drawingml/2006/main" prst="roundRect">
            <a:avLst>
              <a:gd name="adj" fmla="val 7348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7eab58c744084"/>
          <a:stretch xmlns:a="http://schemas.openxmlformats.org/drawingml/2006/main"/>
        </p:blipFill>
        <p:spPr>
          <a:xfrm xmlns:a="http://schemas.openxmlformats.org/drawingml/2006/main">
            <a:off x="11382375" y="3571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CACD580-7F1D-4D17-810B-3D187F62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44817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Больше данных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B96F2FC-6C45-49D8-9752-F0B0DA8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448300"/>
            <a:ext cx="3076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Основа для решений</a:t>
            </a:r>
          </a:p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 ассортименту</a:t>
            </a:r>
          </a:p>
        </p:txBody>
      </p:sp>
      <p:sp>
        <p:nvSpPr>
          <p:cNvPr id="21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3AAA8E02-30B1-4015-BE35-C99810D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6762750" cy="113347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4C50CA6-3A8C-459E-BF73-B45E0BB6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00850"/>
            <a:ext cx="618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Pro — расширенный тариф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79676B9-D9EE-4C77-A702-3AD7903F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39000"/>
            <a:ext cx="618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План: больше возможностей и совместное продвижение.</a:t>
            </a:r>
          </a:p>
        </p:txBody>
      </p:sp>
      <p:sp>
        <p:nvSpPr>
          <p:cNvPr id="24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E85D1085-F1D6-4873-975E-875A4629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591300"/>
            <a:ext cx="6791325" cy="113347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73DE6"/>
          </a:solidFill>
          <a:ln xmlns:a="http://schemas.openxmlformats.org/drawingml/2006/main" w="0">
            <a:noFill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0A9D523-6435-493B-80AE-23FBA067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800850"/>
            <a:ext cx="625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Enterprise — индивидуальные решения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14CF869-C793-463C-829F-B9A67984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7239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План: адаптация витрины и работа под задачи магазина.</a:t>
            </a:r>
          </a:p>
        </p:txBody>
      </p:sp>
      <p:sp>
        <p:nvSpPr>
          <p:cNvPr id="27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2DF66B37-7D69-42F9-BEF1-4DAC4661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Перспективы развития. Новые тарифы и их состав будут согласовываться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165376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665b029e54a8a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1CDC95-F094-4D10-98EF-CCB3408C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434FAB-E546-45C3-8004-8EE119B3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343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Запуск в вашем магазине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1a0e8d654e11"/>
          <a:stretch xmlns:a="http://schemas.openxmlformats.org/drawingml/2006/main"/>
        </p:blipFill>
        <p:spPr>
          <a:xfrm xmlns:a="http://schemas.openxmlformats.org/drawingml/2006/main">
            <a:off x="666750" y="29241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D5238C-AB65-4D9C-8DAD-B83F4643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95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Осмотр и согласование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8A53EE-7236-417A-8FDA-D6965662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909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Оценим точку, учётную систему и места для QR.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a7b60c7b540d1"/>
          <a:stretch xmlns:a="http://schemas.openxmlformats.org/drawingml/2006/main"/>
        </p:blipFill>
        <p:spPr>
          <a:xfrm xmlns:a="http://schemas.openxmlformats.org/drawingml/2006/main">
            <a:off x="666750" y="41814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02BD64-6E3B-467C-8968-211BCD80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529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Каталог и настройка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82F88E-DE77-4309-9742-61350FE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482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Подготовим витрину, контакты и ассортимент.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324530e764447"/>
          <a:stretch xmlns:a="http://schemas.openxmlformats.org/drawingml/2006/main"/>
        </p:blipFill>
        <p:spPr>
          <a:xfrm xmlns:a="http://schemas.openxmlformats.org/drawingml/2006/main">
            <a:off x="666750" y="54387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6D48A0-5916-4AEC-9192-1FF83B4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410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Материалы и первое использование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F93B30-F37E-4BF0-959E-154EF2D7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9055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Разместим QR на входе, полках и у кассы.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1288f69a44701"/>
          <a:srcRect xmlns:a="http://schemas.openxmlformats.org/drawingml/2006/main" l="209" t="0" r="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2895600"/>
            <a:ext cx="6724650" cy="3800475"/>
          </a:xfrm>
          <a:prstGeom xmlns:a="http://schemas.openxmlformats.org/drawingml/2006/main" prst="roundRect">
            <a:avLst>
              <a:gd name="adj" fmla="val 5764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132bd8eb44d7d"/>
          <a:stretch xmlns:a="http://schemas.openxmlformats.org/drawingml/2006/main"/>
        </p:blipFill>
        <p:spPr>
          <a:xfrm xmlns:a="http://schemas.openxmlformats.org/drawingml/2006/main">
            <a:off x="12658725" y="3248025"/>
            <a:ext cx="781050" cy="237976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35C123-2956-44F2-AAF4-F749B16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933825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Цены</a:t>
            </a:r>
          </a:p>
          <a:p xmlns:a="http://schemas.openxmlformats.org/drawingml/2006/main">
            <a:pPr algn="ctr">
              <a:defRPr sz="11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и состав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df63e4914307"/>
          <a:stretch xmlns:a="http://schemas.openxmlformats.org/drawingml/2006/main"/>
        </p:blipFill>
        <p:spPr>
          <a:xfrm xmlns:a="http://schemas.openxmlformats.org/drawingml/2006/main">
            <a:off x="12620625" y="45434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0BC24FA-3934-45FA-ACDE-23219B5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819900"/>
            <a:ext cx="649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Вариант размещения материалов</a:t>
            </a:r>
          </a:p>
        </p:txBody>
      </p:sp>
      <p:sp>
        <p:nvSpPr>
          <p:cNvPr id="18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EF63418B-88F7-4E13-80C7-F40D35A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05650"/>
            <a:ext cx="13896975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D172C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B10FF4-65D8-48E0-8DA7-5F2EC2C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67575"/>
            <a:ext cx="13420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EFD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EFDFF"/>
                </a:solidFill>
                <a:latin typeface="Segoe UI"/>
                <a:ea typeface="Segoe UI"/>
                <a:cs typeface="Segoe UI"/>
              </a:rPr>
              <a:t>Подключение — бесплатно. Печать и установка — от 5 000 ₸ разово.</a:t>
            </a:r>
          </a:p>
        </p:txBody>
      </p:sp>
      <p:sp>
        <p:nvSpPr>
          <p:cNvPr id="20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81B776CA-71E7-4D39-9A78-DA755DB6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Формат и количество индивидуальны. Держатели, крепления и дополнительные материалы учитываются в согласованной смете.</a:t>
            </a:r>
          </a:p>
        </p:txBody>
      </p:sp>
    </p:spTree>
    <p:extLst>
      <p:ext uri="{BB962C8B-B14F-4D97-AF65-F5344CB8AC3E}">
        <p14:creationId xmlns:p14="http://schemas.microsoft.com/office/powerpoint/2010/main" val="3474153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1139d242b44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ef0ab91634882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E31505C-25D4-482B-A320-39C5F1AE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169CE27-0493-4C16-9739-90F6C55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371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Подписка для одной точки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39635D-3A36-4FA0-8744-5B9DAB4A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371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Все текущие функции входят в стартовый тариф</a:t>
            </a:r>
          </a:p>
        </p:txBody>
      </p:sp>
      <p:sp>
        <p:nvSpPr>
          <p:cNvPr id="6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39E1C664-D587-4AEE-8316-D2CCDF8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3248025" cy="4057650"/>
          </a:xfrm>
          <a:prstGeom xmlns:a="http://schemas.openxmlformats.org/drawingml/2006/main" prst="roundRect">
            <a:avLst>
              <a:gd name="adj" fmla="val 7918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9525">
            <a:solidFill>
              <a:srgbClr val="DBD3E7"/>
            </a:solidFill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3E3DEE-59C4-4C56-AFED-3879446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275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7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1 месяц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013DF0-C323-455F-BEDC-190973B3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752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Месячная оплата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0158D4-CF05-4F6B-A135-4F32808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752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5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15 000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6721D9-5577-4700-982D-925D3CEE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₸ / месяц</a:t>
            </a:r>
          </a:p>
        </p:txBody>
      </p:sp>
      <p:sp>
        <p:nvSpPr>
          <p:cNvPr id="11" name="Separator">
            <a:extLst xmlns:a="http://schemas.openxmlformats.org/drawingml/2006/main">
              <a:ext uri="{FF2B5EF4-FFF2-40B4-BE49-F238E27FC236}">
                <a16:creationId xmlns:a16="http://schemas.microsoft.com/office/drawing/2014/main" id="{1E63BFB9-3B08-44E3-B57A-BBBF323E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57925"/>
            <a:ext cx="2752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1E71C9-6398-4621-BE0A-574FD42B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15 000 ₸ сразу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CAE065-E1E4-40A8-8987-07894E6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008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Оплата одного месяца</a:t>
            </a:r>
          </a:p>
        </p:txBody>
      </p:sp>
      <p:sp>
        <p:nvSpPr>
          <p:cNvPr id="14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42002760-B570-4619-A94D-B13C54F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43275"/>
            <a:ext cx="3248025" cy="4057650"/>
          </a:xfrm>
          <a:prstGeom xmlns:a="http://schemas.openxmlformats.org/drawingml/2006/main" prst="roundRect">
            <a:avLst>
              <a:gd name="adj" fmla="val 7918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9525">
            <a:solidFill>
              <a:srgbClr val="DBD3E7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ABA689-0250-4F3B-ADE5-4925A77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29025"/>
            <a:ext cx="275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7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3 месяца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EDA584-564E-4215-81CC-1AB325FF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2752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Скидка 5%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A931C6-B1A5-41A3-BA7A-9EDA2C5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14900"/>
            <a:ext cx="2752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5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14 250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3D5684-8199-45B7-9E40-E43094AE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150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₸ / месяц</a:t>
            </a:r>
          </a:p>
        </p:txBody>
      </p:sp>
      <p:sp>
        <p:nvSpPr>
          <p:cNvPr id="19" name="Separator">
            <a:extLst xmlns:a="http://schemas.openxmlformats.org/drawingml/2006/main">
              <a:ext uri="{FF2B5EF4-FFF2-40B4-BE49-F238E27FC236}">
                <a16:creationId xmlns:a16="http://schemas.microsoft.com/office/drawing/2014/main" id="{D2E831CB-8DE1-4ED6-A6BB-67889C63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6257925"/>
            <a:ext cx="2752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538B20-58DD-4271-A2B9-1526A4C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648652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42 750 ₸ сразу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8FE59EA-E842-47A1-BF68-1FCF09B6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0008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Экономия 2 250 ₸</a:t>
            </a:r>
          </a:p>
        </p:txBody>
      </p:sp>
      <p:sp>
        <p:nvSpPr>
          <p:cNvPr id="22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74A7F26B-EDFD-4399-AB6D-2E9201D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43275"/>
            <a:ext cx="3248025" cy="4057650"/>
          </a:xfrm>
          <a:prstGeom xmlns:a="http://schemas.openxmlformats.org/drawingml/2006/main" prst="roundRect">
            <a:avLst>
              <a:gd name="adj" fmla="val 7918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9525">
            <a:solidFill>
              <a:srgbClr val="DBD3E7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A2648A0-F57B-4987-9CC6-077A9572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29025"/>
            <a:ext cx="275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7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6 месяцев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4DEC5F9-CED7-4F65-8280-64D21B7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752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Скидка 10%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F765BDA-BCE0-4971-95B0-8C2B69D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2752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5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13 500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400B58A-5ADD-43B7-BB74-ABF76BA2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150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₸ / месяц</a:t>
            </a:r>
          </a:p>
        </p:txBody>
      </p:sp>
      <p:sp>
        <p:nvSpPr>
          <p:cNvPr id="27" name="Separator">
            <a:extLst xmlns:a="http://schemas.openxmlformats.org/drawingml/2006/main">
              <a:ext uri="{FF2B5EF4-FFF2-40B4-BE49-F238E27FC236}">
                <a16:creationId xmlns:a16="http://schemas.microsoft.com/office/drawing/2014/main" id="{85B4FEAD-82E0-4EBC-9E2F-DB8FC9A9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257925"/>
            <a:ext cx="2752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87648D2-B4C3-433C-986B-A360F02A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8652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81 000 ₸ сразу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DD28E97-7EDE-4BE1-AAE3-A168C8B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0008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Экономия 9 000 ₸</a:t>
            </a:r>
          </a:p>
        </p:txBody>
      </p:sp>
      <p:sp>
        <p:nvSpPr>
          <p:cNvPr id="30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4DFBACDB-34A7-4C25-B809-6C905AAA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343275"/>
            <a:ext cx="3248025" cy="4057650"/>
          </a:xfrm>
          <a:prstGeom xmlns:a="http://schemas.openxmlformats.org/drawingml/2006/main" prst="roundRect">
            <a:avLst>
              <a:gd name="adj" fmla="val 7918"/>
            </a:avLst>
          </a:prstGeom>
          <a:solidFill xmlns:a="http://schemas.openxmlformats.org/drawingml/2006/main">
            <a:srgbClr val="673D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98405AF-DD7B-4BFD-8A0F-CA974306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629025"/>
            <a:ext cx="275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2775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12 месяцев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56F4477-215F-42BF-9832-4A840660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286250"/>
            <a:ext cx="2752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Скидка 15%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4B5D37C-A2C2-4E3A-ACF4-33890A84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14900"/>
            <a:ext cx="2752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EFDFF"/>
                </a:solidFill>
                <a:latin typeface="Bahnschrift"/>
                <a:ea typeface="Bahnschrift"/>
                <a:cs typeface="Bahnschrift"/>
              </a:defRPr>
            </a:pPr>
            <a:r>
              <a:rPr sz="4575" b="1">
                <a:solidFill>
                  <a:srgbClr val="FEFDFF"/>
                </a:solidFill>
                <a:latin typeface="Bahnschrift"/>
                <a:ea typeface="Bahnschrift"/>
                <a:cs typeface="Bahnschrift"/>
              </a:rPr>
              <a:t>12 750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4D266168-27FC-4376-A9FD-A6AFE629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7150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₸ / месяц</a:t>
            </a:r>
          </a:p>
        </p:txBody>
      </p:sp>
      <p:sp>
        <p:nvSpPr>
          <p:cNvPr id="35" name="Separator">
            <a:extLst xmlns:a="http://schemas.openxmlformats.org/drawingml/2006/main">
              <a:ext uri="{FF2B5EF4-FFF2-40B4-BE49-F238E27FC236}">
                <a16:creationId xmlns:a16="http://schemas.microsoft.com/office/drawing/2014/main" id="{7BC0BD0A-3F8A-4A0D-BAF6-8336F1A6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257925"/>
            <a:ext cx="2752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68CEE"/>
            </a:solidFill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AAADF9D-301A-4F3E-98F3-C1705C3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48652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EFD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EFDFF"/>
                </a:solidFill>
                <a:latin typeface="Segoe UI"/>
                <a:ea typeface="Segoe UI"/>
                <a:cs typeface="Segoe UI"/>
              </a:rPr>
              <a:t>153 000 ₸ сразу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D979690-F4DE-460F-AD19-DD34A9BC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0008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E0F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E9E0FA"/>
                </a:solidFill>
                <a:latin typeface="Segoe UI"/>
                <a:ea typeface="Segoe UI"/>
                <a:cs typeface="Segoe UI"/>
              </a:rPr>
              <a:t>Экономия 27 000 ₸</a:t>
            </a:r>
          </a:p>
        </p:txBody>
      </p:sp>
      <p:sp>
        <p:nvSpPr>
          <p:cNvPr id="38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DE3929F1-C4CA-44EC-9314-E43453F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Оплата за выбранный срок целиком. Цена и согласованные функции фиксируются до его конца. Материалы оплачиваются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7450014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5E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326cb9322427a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276CCAB-91C7-4BE9-8193-61B6FFC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1C346B8-8731-4657-9CD5-CEF69DC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3430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Поддержка Körset</a:t>
            </a:r>
          </a:p>
          <a:p xmlns:a="http://schemas.openxmlformats.org/drawingml/2006/main">
            <a:pPr algn="l">
              <a:def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и понятные условия</a:t>
            </a:r>
          </a:p>
        </p:txBody>
      </p:sp>
      <p:sp>
        <p:nvSpPr>
          <p:cNvPr id="4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DF4DA55D-FAD5-4246-817E-33E24643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19125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aecdd8c08442e"/>
          <a:stretch xmlns:a="http://schemas.openxmlformats.org/drawingml/2006/main"/>
        </p:blipFill>
        <p:spPr>
          <a:xfrm xmlns:a="http://schemas.openxmlformats.org/drawingml/2006/main">
            <a:off x="971550" y="3733800"/>
            <a:ext cx="600075" cy="60007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14FAD4-D19F-4591-B85C-6BBBBAF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00475"/>
            <a:ext cx="4619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На связи до 00:00</a:t>
            </a:r>
          </a:p>
        </p:txBody>
      </p:sp>
      <p:sp>
        <p:nvSpPr>
          <p:cNvPr id="7" name="Separator">
            <a:extLst xmlns:a="http://schemas.openxmlformats.org/drawingml/2006/main">
              <a:ext uri="{FF2B5EF4-FFF2-40B4-BE49-F238E27FC236}">
                <a16:creationId xmlns:a16="http://schemas.microsoft.com/office/drawing/2014/main" id="{7F4CDE14-1664-4AAF-BD1E-AFEB7EE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8675"/>
            <a:ext cx="55911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BD3E7"/>
            </a:solidFill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9FD183-91E4-4671-B4DD-F5011BF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00625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Обычно ответ — в течение часа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8A3EF4-8B16-44A9-8228-50D5DDA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5657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Ориентир исправления — 1–2 дня.</a:t>
            </a:r>
          </a:p>
          <a:p xmlns:a="http://schemas.openxmlformats.org/drawingml/2006/main">
            <a:pPr algn="l">
              <a:defRPr sz="21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Срок зависит от сложности задачи.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B40CE2-F68C-4DB6-9AFD-D267D74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8865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73DE6"/>
                </a:solidFill>
                <a:latin typeface="Segoe UI"/>
                <a:ea typeface="Segoe UI"/>
                <a:cs typeface="Segoe UI"/>
              </a:rPr>
              <a:t>Регулярные обновления входят в подписку.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597d663054662"/>
          <a:stretch xmlns:a="http://schemas.openxmlformats.org/drawingml/2006/main"/>
        </p:blipFill>
        <p:spPr>
          <a:xfrm xmlns:a="http://schemas.openxmlformats.org/drawingml/2006/main">
            <a:off x="7572375" y="3590925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AE58A0-8D13-43D9-87CB-1B522409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6229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Условия защищены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D607A5-403E-43C8-8A52-D006DE4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5767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Цена и согласованные функции сохраняются</a:t>
            </a:r>
          </a:p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до конца оплаченного срока.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b0d7a51d64208"/>
          <a:stretch xmlns:a="http://schemas.openxmlformats.org/drawingml/2006/main"/>
        </p:blipFill>
        <p:spPr>
          <a:xfrm xmlns:a="http://schemas.openxmlformats.org/drawingml/2006/main">
            <a:off x="7572375" y="49149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AEA4C2-ADB7-4EC7-8295-30702B6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95850"/>
            <a:ext cx="6229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Возврат за неиспользованный срок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32863C-4189-4923-B671-1C278D92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81650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Возврат по оплаченной ставке.</a:t>
            </a:r>
          </a:p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Изготовленные материалы остаются у магазина.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5504bfdb84d46"/>
          <a:stretch xmlns:a="http://schemas.openxmlformats.org/drawingml/2006/main"/>
        </p:blipFill>
        <p:spPr>
          <a:xfrm xmlns:a="http://schemas.openxmlformats.org/drawingml/2006/main">
            <a:off x="7572375" y="6238875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F225E58-2154-44E2-928F-306EDCD1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219825"/>
            <a:ext cx="6229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Продление обсуждаем заранее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803A6F6-44B3-467C-AECC-878D4C83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9056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Будущие тарифы обсуждаем до следующей оплаты.</a:t>
            </a:r>
          </a:p>
          <a:p xmlns:a="http://schemas.openxmlformats.org/drawingml/2006/main">
            <a:pPr algn="l">
              <a:defRPr sz="1875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Действующий оплаченный срок не меняется.</a:t>
            </a:r>
          </a:p>
        </p:txBody>
      </p:sp>
      <p:sp>
        <p:nvSpPr>
          <p:cNvPr id="20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03CECAA4-950C-41DA-9ECB-3CB91F2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Стоимость материалов и условия оплаты согласуем перед запуском.</a:t>
            </a:r>
          </a:p>
        </p:txBody>
      </p:sp>
    </p:spTree>
    <p:extLst>
      <p:ext uri="{BB962C8B-B14F-4D97-AF65-F5344CB8AC3E}">
        <p14:creationId xmlns:p14="http://schemas.microsoft.com/office/powerpoint/2010/main" val="17140507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34d481d0341e6"/>
          <a:stretch xmlns:a="http://schemas.openxmlformats.org/drawingml/2006/main"/>
        </p:blipFill>
        <p:spPr>
          <a:xfrm xmlns:a="http://schemas.openxmlformats.org/drawingml/2006/main">
            <a:off x="666750" y="457200"/>
            <a:ext cx="1647825" cy="502072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E869AEE-4444-44A4-A09D-35E6334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51E502-84CB-4803-9C2B-C61CD76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0965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Покажем Körset</a:t>
            </a:r>
          </a:p>
          <a:p xmlns:a="http://schemas.openxmlformats.org/drawingml/2006/main">
            <a:pPr algn="l">
              <a:defRPr sz="5175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5175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для вашего магазина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EFF772-EDF3-44FB-8B29-CBF2BA95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872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Обсудим вашу систему учёта, ассортимент</a:t>
            </a:r>
          </a:p>
          <a:p xmlns:a="http://schemas.openxmlformats.org/drawingml/2006/main">
            <a:pPr algn="l">
              <a:defRPr sz="2400" b="0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и размещение QR-кодов.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306339f1249e4"/>
          <a:srcRect xmlns:a="http://schemas.openxmlformats.org/drawingml/2006/main" l="0" t="28209" r="0" b="28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848225"/>
            <a:ext cx="8162925" cy="2371725"/>
          </a:xfrm>
          <a:prstGeom xmlns:a="http://schemas.openxmlformats.org/drawingml/2006/main" prst="roundRect">
            <a:avLst>
              <a:gd name="adj" fmla="val 10040"/>
            </a:avLst>
          </a:prstGeom>
        </p:spPr>
      </p:pic>
      <p:sp>
        <p:nvSpPr>
          <p:cNvPr id="6" name="Layout surface">
            <a:extLst xmlns:a="http://schemas.openxmlformats.org/drawingml/2006/main">
              <a:ext uri="{FF2B5EF4-FFF2-40B4-BE49-F238E27FC236}">
                <a16:creationId xmlns:a16="http://schemas.microsoft.com/office/drawing/2014/main" id="{034F3CF1-C840-4DBC-85D6-1C3F4263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62225"/>
            <a:ext cx="4343400" cy="4943475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EFDFF"/>
          </a:solidFill>
          <a:ln xmlns:a="http://schemas.openxmlformats.org/drawingml/2006/main" w="9525">
            <a:solidFill>
              <a:srgbClr val="DBD3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F2891F-B208-4DBA-874F-32794F5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43225"/>
            <a:ext cx="3695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D172C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D172C"/>
                </a:solidFill>
                <a:latin typeface="Bahnschrift"/>
                <a:ea typeface="Bahnschrift"/>
                <a:cs typeface="Bahnschrift"/>
              </a:rPr>
              <a:t>MARS в Körset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11CEA4-FB09-4B9D-9309-91CB9EA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90925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9617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96176"/>
                </a:solidFill>
                <a:latin typeface="Segoe UI"/>
                <a:ea typeface="Segoe UI"/>
                <a:cs typeface="Segoe UI"/>
              </a:rPr>
              <a:t>Пример цифровой витрины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b69c5dd8842e9"/>
          <a:stretch xmlns:a="http://schemas.openxmlformats.org/drawingml/2006/main"/>
        </p:blipFill>
        <p:spPr>
          <a:xfrm xmlns:a="http://schemas.openxmlformats.org/drawingml/2006/main">
            <a:off x="10810875" y="4067175"/>
            <a:ext cx="3162300" cy="31623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017F71-F4FB-48FF-ACB6-45CC2E0D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0675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73DE6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673DE6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c8bf3af4408e4117"/>
              </a:rPr>
              <a:t>korset.app/s/mars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1CB2C8-EEDD-41C1-9BE4-4809ABD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15225"/>
            <a:ext cx="9210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Ответьте в WhatsApp представителю Körset,</a:t>
            </a:r>
          </a:p>
          <a:p xmlns:a="http://schemas.openxmlformats.org/drawingml/2006/main">
            <a:pPr algn="l">
              <a:defRPr sz="2325" b="1">
                <a:solidFill>
                  <a:srgbClr val="1D1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D172C"/>
                </a:solidFill>
                <a:latin typeface="Segoe UI"/>
                <a:ea typeface="Segoe UI"/>
                <a:cs typeface="Segoe UI"/>
              </a:rPr>
              <a:t>который отправил эту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21191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7818" dir="4557825">
              <a:srgbClr val="1D172C">
                <a:alpha val="15000"/>
              </a:srgbClr>
            </a:outerShdw>
          </a:effectLst>
        </a:effectStyle>
        <a:effectStyle>
          <a:effectLst>
            <a:outerShdw blurRad="228600" dist="76200" dir="5400000">
              <a:srgbClr val="1D172C">
                <a:alpha val="9000"/>
              </a:srgbClr>
            </a:outerShdw>
          </a:effectLst>
        </a:effectStyle>
        <a:effectStyle>
          <a:effectLst>
            <a:outerShdw blurRad="285750" dist="95250" dir="5400000">
              <a:srgbClr val="1D172C">
                <a:alpha val="12000"/>
              </a:srgbClr>
            </a:outerShdw>
          </a:effectLst>
        </a:effectStyle>
        <a:effectStyle>
          <a:effectLst>
            <a:outerShdw blurRad="219075" dist="76200" dir="5400000">
              <a:srgbClr val="1D172C">
                <a:alpha val="10000"/>
              </a:srgbClr>
            </a:outerShdw>
          </a:effectLst>
        </a:effectStyle>
        <a:effectStyle>
          <a:effectLst>
            <a:outerShdw blurRad="142875" dist="38100" dir="5400000">
              <a:srgbClr val="1D172C">
                <a:alpha val="8000"/>
              </a:srgbClr>
            </a:outerShdw>
          </a:effectLst>
        </a:effectStyle>
        <a:effectStyle>
          <a:effectLst>
            <a:outerShdw blurRad="238125" dist="114300" dir="5400000">
              <a:srgbClr val="673DE6">
                <a:alpha val="24000"/>
              </a:srgbClr>
            </a:outerShdw>
          </a:effectLst>
        </a:effectStyle>
        <a:effectStyle>
          <a:effectLst>
            <a:outerShdw blurRad="304800" dist="114300" dir="5400000">
              <a:srgbClr val="1D172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2026-09-30T16:13:58.9600000Z</dcterms:created>
  <dcterms:modified xsi:type="dcterms:W3CDTF">2026-09-30T16:13:58.9600000Z</dcterms:modified>
</coreProperties>
</file>